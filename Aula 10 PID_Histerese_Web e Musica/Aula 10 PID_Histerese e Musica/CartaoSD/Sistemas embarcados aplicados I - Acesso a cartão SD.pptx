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  <p:sldId id="304" r:id="rId5"/>
    <p:sldId id="305" r:id="rId6"/>
    <p:sldId id="306" r:id="rId7"/>
    <p:sldId id="307" r:id="rId8"/>
    <p:sldId id="308" r:id="rId9"/>
    <p:sldId id="309" r:id="rId10"/>
    <p:sldId id="303" r:id="rId11"/>
    <p:sldId id="310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E6338-4DCD-43E8-B1DD-477C83B22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914231" cy="2971801"/>
          </a:xfrm>
        </p:spPr>
        <p:txBody>
          <a:bodyPr/>
          <a:lstStyle/>
          <a:p>
            <a:r>
              <a:rPr lang="pt-BR" dirty="0"/>
              <a:t>Sistemas embarcados aplicados I – Acesso a cartão de memória (SD CARD)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975DF8-A7C0-4669-8A93-599AB542F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Prof. Dr. Dalton Vidor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18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Montagem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726" y="1479884"/>
            <a:ext cx="319396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ircuito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chemeClr val="bg1"/>
                </a:solidFill>
              </a:rPr>
              <a:t>Lembrar</a:t>
            </a:r>
            <a:r>
              <a:rPr lang="en-US" sz="2400" dirty="0">
                <a:solidFill>
                  <a:schemeClr val="bg1"/>
                </a:solidFill>
              </a:rPr>
              <a:t> que o Arduino Uno opera com 5V e o </a:t>
            </a:r>
            <a:r>
              <a:rPr lang="en-US" sz="2400" dirty="0" err="1">
                <a:solidFill>
                  <a:schemeClr val="bg1"/>
                </a:solidFill>
              </a:rPr>
              <a:t>cartão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memória</a:t>
            </a:r>
            <a:r>
              <a:rPr lang="en-US" sz="2400" dirty="0">
                <a:solidFill>
                  <a:schemeClr val="bg1"/>
                </a:solidFill>
              </a:rPr>
              <a:t> com 3,3V. </a:t>
            </a:r>
            <a:r>
              <a:rPr lang="en-US" sz="2400" dirty="0" err="1">
                <a:solidFill>
                  <a:schemeClr val="bg1"/>
                </a:solidFill>
              </a:rPr>
              <a:t>Portanto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são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necessários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os</a:t>
            </a:r>
            <a:r>
              <a:rPr lang="en-US" sz="2400" dirty="0">
                <a:solidFill>
                  <a:schemeClr val="bg1"/>
                </a:solidFill>
              </a:rPr>
              <a:t> resistors para </a:t>
            </a:r>
            <a:r>
              <a:rPr lang="en-US" sz="2400" dirty="0" err="1">
                <a:solidFill>
                  <a:schemeClr val="bg1"/>
                </a:solidFill>
              </a:rPr>
              <a:t>adaptação</a:t>
            </a:r>
            <a:r>
              <a:rPr lang="en-US" sz="2400" dirty="0">
                <a:solidFill>
                  <a:schemeClr val="bg1"/>
                </a:solidFill>
              </a:rPr>
              <a:t> dos </a:t>
            </a:r>
            <a:r>
              <a:rPr lang="en-US" sz="2400" dirty="0" err="1">
                <a:solidFill>
                  <a:schemeClr val="bg1"/>
                </a:solidFill>
              </a:rPr>
              <a:t>níveis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36F296-0EB9-4EDB-8AE1-F4BFCD593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63" y="1257301"/>
            <a:ext cx="8096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5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Montagem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726" y="1479884"/>
            <a:ext cx="319396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ircuito</a:t>
            </a:r>
            <a:r>
              <a:rPr lang="en-US" sz="2400" dirty="0">
                <a:solidFill>
                  <a:schemeClr val="bg1"/>
                </a:solidFill>
              </a:rPr>
              <a:t> – no </a:t>
            </a:r>
            <a:r>
              <a:rPr lang="en-US" sz="2400" dirty="0" err="1">
                <a:solidFill>
                  <a:schemeClr val="bg1"/>
                </a:solidFill>
              </a:rPr>
              <a:t>simulador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problema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deixar</a:t>
            </a:r>
            <a:r>
              <a:rPr lang="en-US" sz="2400" dirty="0">
                <a:solidFill>
                  <a:schemeClr val="bg1"/>
                </a:solidFill>
              </a:rPr>
              <a:t> com 5V.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 </a:t>
            </a:r>
            <a:r>
              <a:rPr lang="en-US" sz="2400" dirty="0" err="1">
                <a:solidFill>
                  <a:schemeClr val="bg1"/>
                </a:solidFill>
              </a:rPr>
              <a:t>cartão</a:t>
            </a:r>
            <a:r>
              <a:rPr lang="en-US" sz="2400" dirty="0">
                <a:solidFill>
                  <a:schemeClr val="bg1"/>
                </a:solidFill>
              </a:rPr>
              <a:t> SD é um </a:t>
            </a:r>
            <a:r>
              <a:rPr lang="en-US" sz="2400" dirty="0" err="1">
                <a:solidFill>
                  <a:schemeClr val="bg1"/>
                </a:solidFill>
              </a:rPr>
              <a:t>arquivo</a:t>
            </a:r>
            <a:r>
              <a:rPr lang="en-US" sz="2400" dirty="0">
                <a:solidFill>
                  <a:schemeClr val="bg1"/>
                </a:solidFill>
              </a:rPr>
              <a:t> que é </a:t>
            </a:r>
            <a:r>
              <a:rPr lang="en-US" sz="2400" dirty="0" err="1">
                <a:solidFill>
                  <a:schemeClr val="bg1"/>
                </a:solidFill>
              </a:rPr>
              <a:t>uma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imagem</a:t>
            </a:r>
            <a:r>
              <a:rPr lang="en-US" sz="2400" dirty="0">
                <a:solidFill>
                  <a:schemeClr val="bg1"/>
                </a:solidFill>
              </a:rPr>
              <a:t> do </a:t>
            </a:r>
            <a:r>
              <a:rPr lang="en-US" sz="2400" dirty="0" err="1">
                <a:solidFill>
                  <a:schemeClr val="bg1"/>
                </a:solidFill>
              </a:rPr>
              <a:t>tipo</a:t>
            </a:r>
            <a:r>
              <a:rPr lang="en-US" sz="2400" dirty="0">
                <a:solidFill>
                  <a:schemeClr val="bg1"/>
                </a:solidFill>
              </a:rPr>
              <a:t> MMC (</a:t>
            </a:r>
            <a:r>
              <a:rPr lang="en-US" sz="2400" dirty="0" err="1">
                <a:solidFill>
                  <a:schemeClr val="bg1"/>
                </a:solidFill>
              </a:rPr>
              <a:t>multimidea</a:t>
            </a:r>
            <a:r>
              <a:rPr lang="en-US" sz="2400" dirty="0">
                <a:solidFill>
                  <a:schemeClr val="bg1"/>
                </a:solidFill>
              </a:rPr>
              <a:t> card).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C63DEE-03D6-473D-BE01-99E978B2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211" y="1747585"/>
            <a:ext cx="8209138" cy="399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1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40BB01-0B05-4594-BA11-FEB3591EF0DE}"/>
              </a:ext>
            </a:extLst>
          </p:cNvPr>
          <p:cNvSpPr txBox="1"/>
          <p:nvPr/>
        </p:nvSpPr>
        <p:spPr>
          <a:xfrm>
            <a:off x="288757" y="1846217"/>
            <a:ext cx="118029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Embarcados</a:t>
            </a:r>
            <a:r>
              <a:rPr lang="en-US" dirty="0"/>
              <a:t> </a:t>
            </a:r>
            <a:r>
              <a:rPr lang="en-US" dirty="0" err="1"/>
              <a:t>Aplicados</a:t>
            </a:r>
            <a:r>
              <a:rPr lang="en-US" dirty="0"/>
              <a:t> I - Prof. Dr. Dalton Vidor - 2020/2 - </a:t>
            </a:r>
            <a:r>
              <a:rPr lang="en-US" dirty="0" err="1"/>
              <a:t>Ulbra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// </a:t>
            </a:r>
            <a:r>
              <a:rPr lang="en-US" dirty="0" err="1"/>
              <a:t>inclusão</a:t>
            </a:r>
            <a:r>
              <a:rPr lang="en-US" dirty="0"/>
              <a:t> das </a:t>
            </a:r>
            <a:r>
              <a:rPr lang="en-US" dirty="0" err="1"/>
              <a:t>bibliotecas</a:t>
            </a:r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SPI.h</a:t>
            </a:r>
            <a:r>
              <a:rPr lang="en-US" dirty="0"/>
              <a:t>&gt;    // </a:t>
            </a:r>
            <a:r>
              <a:rPr lang="en-US" dirty="0" err="1"/>
              <a:t>biblioteca</a:t>
            </a:r>
            <a:r>
              <a:rPr lang="en-US" dirty="0"/>
              <a:t> de </a:t>
            </a:r>
            <a:r>
              <a:rPr lang="en-US" dirty="0" err="1"/>
              <a:t>comunicação</a:t>
            </a:r>
            <a:r>
              <a:rPr lang="en-US" dirty="0"/>
              <a:t> SPI</a:t>
            </a:r>
          </a:p>
          <a:p>
            <a:r>
              <a:rPr lang="en-US" dirty="0"/>
              <a:t>#include &lt;</a:t>
            </a:r>
            <a:r>
              <a:rPr lang="en-US" dirty="0" err="1"/>
              <a:t>SD.h</a:t>
            </a:r>
            <a:r>
              <a:rPr lang="en-US" dirty="0"/>
              <a:t>&gt;     // </a:t>
            </a:r>
            <a:r>
              <a:rPr lang="en-US" dirty="0" err="1"/>
              <a:t>biblioteca</a:t>
            </a:r>
            <a:r>
              <a:rPr lang="en-US" dirty="0"/>
              <a:t> para </a:t>
            </a:r>
            <a:r>
              <a:rPr lang="en-US" dirty="0" err="1"/>
              <a:t>manipulação</a:t>
            </a:r>
            <a:r>
              <a:rPr lang="en-US" dirty="0"/>
              <a:t> de </a:t>
            </a:r>
            <a:r>
              <a:rPr lang="en-US" dirty="0" err="1"/>
              <a:t>arquivos</a:t>
            </a:r>
            <a:r>
              <a:rPr lang="en-US" dirty="0"/>
              <a:t> e dados do </a:t>
            </a:r>
            <a:r>
              <a:rPr lang="en-US" dirty="0" err="1"/>
              <a:t>cartão</a:t>
            </a:r>
            <a:r>
              <a:rPr lang="en-US" dirty="0"/>
              <a:t> SD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// </a:t>
            </a:r>
            <a:r>
              <a:rPr lang="en-US" dirty="0" err="1"/>
              <a:t>definições</a:t>
            </a:r>
            <a:r>
              <a:rPr lang="en-US" dirty="0"/>
              <a:t> das </a:t>
            </a:r>
            <a:r>
              <a:rPr lang="en-US" dirty="0" err="1"/>
              <a:t>variáveis</a:t>
            </a:r>
            <a:r>
              <a:rPr lang="en-US" dirty="0"/>
              <a:t> e </a:t>
            </a:r>
            <a:r>
              <a:rPr lang="en-US" dirty="0" err="1"/>
              <a:t>funções</a:t>
            </a:r>
            <a:r>
              <a:rPr lang="en-US" dirty="0"/>
              <a:t> </a:t>
            </a:r>
            <a:r>
              <a:rPr lang="en-US" dirty="0" err="1"/>
              <a:t>utilizadas</a:t>
            </a:r>
            <a:r>
              <a:rPr lang="en-US" dirty="0"/>
              <a:t> da </a:t>
            </a:r>
            <a:r>
              <a:rPr lang="en-US" dirty="0" err="1"/>
              <a:t>biblioteca</a:t>
            </a:r>
            <a:r>
              <a:rPr lang="en-US" dirty="0"/>
              <a:t> SD.</a:t>
            </a:r>
          </a:p>
          <a:p>
            <a:r>
              <a:rPr lang="en-US" dirty="0"/>
              <a:t>Sd2Card card;</a:t>
            </a:r>
          </a:p>
          <a:p>
            <a:r>
              <a:rPr lang="en-US" dirty="0" err="1"/>
              <a:t>SdVolume</a:t>
            </a:r>
            <a:r>
              <a:rPr lang="en-US" dirty="0"/>
              <a:t> volume;</a:t>
            </a:r>
          </a:p>
          <a:p>
            <a:r>
              <a:rPr lang="en-US" dirty="0" err="1"/>
              <a:t>SdFile</a:t>
            </a:r>
            <a:r>
              <a:rPr lang="en-US" dirty="0"/>
              <a:t> root;</a:t>
            </a:r>
          </a:p>
          <a:p>
            <a:endParaRPr lang="en-US" dirty="0"/>
          </a:p>
          <a:p>
            <a:r>
              <a:rPr lang="en-US" dirty="0"/>
              <a:t>File </a:t>
            </a:r>
            <a:r>
              <a:rPr lang="en-US" dirty="0" err="1"/>
              <a:t>myFile</a:t>
            </a:r>
            <a:r>
              <a:rPr lang="en-US" dirty="0"/>
              <a:t>;        // </a:t>
            </a:r>
            <a:r>
              <a:rPr lang="en-US" dirty="0" err="1"/>
              <a:t>arquivo</a:t>
            </a:r>
            <a:r>
              <a:rPr lang="en-US" dirty="0"/>
              <a:t> a ser </a:t>
            </a:r>
            <a:r>
              <a:rPr lang="en-US" dirty="0" err="1"/>
              <a:t>manipulado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software</a:t>
            </a:r>
          </a:p>
          <a:p>
            <a:endParaRPr lang="en-US" dirty="0"/>
          </a:p>
          <a:p>
            <a:r>
              <a:rPr lang="en-US" dirty="0"/>
              <a:t>int t, </a:t>
            </a:r>
            <a:r>
              <a:rPr lang="en-US" dirty="0" err="1"/>
              <a:t>leitura</a:t>
            </a:r>
            <a:r>
              <a:rPr lang="en-US" dirty="0"/>
              <a:t>;     // </a:t>
            </a:r>
            <a:r>
              <a:rPr lang="en-US" dirty="0" err="1"/>
              <a:t>variáveis</a:t>
            </a:r>
            <a:r>
              <a:rPr lang="en-US" dirty="0"/>
              <a:t> para a </a:t>
            </a:r>
            <a:r>
              <a:rPr lang="en-US" dirty="0" err="1"/>
              <a:t>leitura</a:t>
            </a:r>
            <a:r>
              <a:rPr lang="en-US" dirty="0"/>
              <a:t> da entrada A0</a:t>
            </a:r>
          </a:p>
        </p:txBody>
      </p:sp>
    </p:spTree>
    <p:extLst>
      <p:ext uri="{BB962C8B-B14F-4D97-AF65-F5344CB8AC3E}">
        <p14:creationId xmlns:p14="http://schemas.microsoft.com/office/powerpoint/2010/main" val="270447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4CD17A-E626-4E35-BDB3-593839D2E610}"/>
              </a:ext>
            </a:extLst>
          </p:cNvPr>
          <p:cNvSpPr txBox="1"/>
          <p:nvPr/>
        </p:nvSpPr>
        <p:spPr>
          <a:xfrm>
            <a:off x="308810" y="1553813"/>
            <a:ext cx="1157437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void setup() {      // setup do </a:t>
            </a:r>
            <a:r>
              <a:rPr lang="en-US" sz="1400" dirty="0" err="1"/>
              <a:t>arduino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</a:t>
            </a:r>
            <a:r>
              <a:rPr lang="en-US" sz="1400" dirty="0" err="1"/>
              <a:t>pinMode</a:t>
            </a:r>
            <a:r>
              <a:rPr lang="en-US" sz="1400" dirty="0"/>
              <a:t>(A0, INPUT); // </a:t>
            </a:r>
            <a:r>
              <a:rPr lang="en-US" sz="1400" dirty="0" err="1"/>
              <a:t>pino</a:t>
            </a:r>
            <a:r>
              <a:rPr lang="en-US" sz="1400" dirty="0"/>
              <a:t> A0 </a:t>
            </a:r>
            <a:r>
              <a:rPr lang="en-US" sz="1400" dirty="0" err="1"/>
              <a:t>como</a:t>
            </a:r>
            <a:r>
              <a:rPr lang="en-US" sz="1400" dirty="0"/>
              <a:t> entrada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Serial.begin</a:t>
            </a:r>
            <a:r>
              <a:rPr lang="en-US" sz="1400" dirty="0"/>
              <a:t>(9600); // </a:t>
            </a:r>
            <a:r>
              <a:rPr lang="en-US" sz="1400" dirty="0" err="1"/>
              <a:t>configuração</a:t>
            </a:r>
            <a:r>
              <a:rPr lang="en-US" sz="1400" dirty="0"/>
              <a:t> da porta serial e taxa de </a:t>
            </a:r>
            <a:r>
              <a:rPr lang="en-US" sz="1400" dirty="0" err="1"/>
              <a:t>comunicação</a:t>
            </a:r>
            <a:r>
              <a:rPr lang="en-US" sz="1400" dirty="0"/>
              <a:t> </a:t>
            </a:r>
            <a:r>
              <a:rPr lang="en-US" sz="1400" dirty="0" err="1"/>
              <a:t>em</a:t>
            </a:r>
            <a:r>
              <a:rPr lang="en-US" sz="1400" dirty="0"/>
              <a:t> 9600</a:t>
            </a:r>
          </a:p>
          <a:p>
            <a:r>
              <a:rPr lang="en-US" sz="1400" dirty="0"/>
              <a:t>  while (!Serial) {   // </a:t>
            </a:r>
            <a:r>
              <a:rPr lang="en-US" sz="1400" dirty="0" err="1"/>
              <a:t>aguarda</a:t>
            </a:r>
            <a:r>
              <a:rPr lang="en-US" sz="1400" dirty="0"/>
              <a:t> </a:t>
            </a:r>
            <a:r>
              <a:rPr lang="en-US" sz="1400" dirty="0" err="1"/>
              <a:t>enquanto</a:t>
            </a:r>
            <a:r>
              <a:rPr lang="en-US" sz="1400" dirty="0"/>
              <a:t>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há</a:t>
            </a:r>
            <a:r>
              <a:rPr lang="en-US" sz="1400" dirty="0"/>
              <a:t> serial </a:t>
            </a:r>
            <a:r>
              <a:rPr lang="en-US" sz="1400" dirty="0" err="1"/>
              <a:t>configurada</a:t>
            </a:r>
            <a:endParaRPr lang="en-US" sz="1400" dirty="0"/>
          </a:p>
          <a:p>
            <a:r>
              <a:rPr lang="en-US" sz="1400" dirty="0"/>
              <a:t>    ;                 // </a:t>
            </a:r>
            <a:r>
              <a:rPr lang="en-US" sz="1400" dirty="0" err="1"/>
              <a:t>enquanto</a:t>
            </a:r>
            <a:r>
              <a:rPr lang="en-US" sz="1400" dirty="0"/>
              <a:t> </a:t>
            </a:r>
            <a:r>
              <a:rPr lang="en-US" sz="1400" dirty="0" err="1"/>
              <a:t>aguarda</a:t>
            </a:r>
            <a:r>
              <a:rPr lang="en-US" sz="1400" dirty="0"/>
              <a:t>,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faz</a:t>
            </a:r>
            <a:r>
              <a:rPr lang="en-US" sz="1400" dirty="0"/>
              <a:t> nada - </a:t>
            </a:r>
            <a:r>
              <a:rPr lang="en-US" sz="1400" dirty="0" err="1"/>
              <a:t>sem</a:t>
            </a:r>
            <a:r>
              <a:rPr lang="en-US" sz="1400" dirty="0"/>
              <a:t> </a:t>
            </a:r>
            <a:r>
              <a:rPr lang="en-US" sz="1400" dirty="0" err="1"/>
              <a:t>comando</a:t>
            </a:r>
            <a:r>
              <a:rPr lang="en-US" sz="1400" dirty="0"/>
              <a:t> (;)</a:t>
            </a:r>
          </a:p>
          <a:p>
            <a:r>
              <a:rPr lang="en-US" sz="1400" dirty="0"/>
              <a:t>  }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("\</a:t>
            </a:r>
            <a:r>
              <a:rPr lang="en-US" sz="1400" dirty="0" err="1"/>
              <a:t>nInitializando</a:t>
            </a:r>
            <a:r>
              <a:rPr lang="en-US" sz="1400" dirty="0"/>
              <a:t> o </a:t>
            </a:r>
            <a:r>
              <a:rPr lang="en-US" sz="1400" dirty="0" err="1"/>
              <a:t>cartão</a:t>
            </a:r>
            <a:r>
              <a:rPr lang="en-US" sz="1400" dirty="0"/>
              <a:t> SD..."); // </a:t>
            </a:r>
            <a:r>
              <a:rPr lang="en-US" sz="1400" dirty="0" err="1"/>
              <a:t>escreve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serial que 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está</a:t>
            </a:r>
            <a:r>
              <a:rPr lang="en-US" sz="1400" dirty="0"/>
              <a:t> </a:t>
            </a:r>
            <a:r>
              <a:rPr lang="en-US" sz="1400" dirty="0" err="1"/>
              <a:t>inicailizando</a:t>
            </a:r>
            <a:endParaRPr lang="en-US" sz="1400" dirty="0"/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if (!</a:t>
            </a:r>
            <a:r>
              <a:rPr lang="en-US" sz="1400" dirty="0" err="1"/>
              <a:t>card.init</a:t>
            </a:r>
            <a:r>
              <a:rPr lang="en-US" sz="1400" dirty="0"/>
              <a:t>()) {                                                                       // </a:t>
            </a:r>
            <a:r>
              <a:rPr lang="en-US" sz="1400" dirty="0" err="1"/>
              <a:t>testa</a:t>
            </a:r>
            <a:r>
              <a:rPr lang="en-US" sz="1400" dirty="0"/>
              <a:t> se 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inicializa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("A </a:t>
            </a:r>
            <a:r>
              <a:rPr lang="en-US" sz="1400" dirty="0" err="1"/>
              <a:t>initialização</a:t>
            </a:r>
            <a:r>
              <a:rPr lang="en-US" sz="1400" dirty="0"/>
              <a:t> do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falhou</a:t>
            </a:r>
            <a:r>
              <a:rPr lang="en-US" sz="1400" dirty="0"/>
              <a:t>. </a:t>
            </a:r>
            <a:r>
              <a:rPr lang="en-US" sz="1400" dirty="0" err="1"/>
              <a:t>Verifique</a:t>
            </a:r>
            <a:r>
              <a:rPr lang="en-US" sz="1400" dirty="0"/>
              <a:t>:");                         // </a:t>
            </a:r>
            <a:r>
              <a:rPr lang="en-US" sz="1400" dirty="0" err="1"/>
              <a:t>mensagens</a:t>
            </a:r>
            <a:r>
              <a:rPr lang="en-US" sz="1400" dirty="0"/>
              <a:t> </a:t>
            </a:r>
            <a:r>
              <a:rPr lang="en-US" sz="1400" dirty="0" err="1"/>
              <a:t>quando</a:t>
            </a:r>
            <a:r>
              <a:rPr lang="en-US" sz="1400" dirty="0"/>
              <a:t>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inicializou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("* 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foi</a:t>
            </a:r>
            <a:r>
              <a:rPr lang="en-US" sz="1400" dirty="0"/>
              <a:t> </a:t>
            </a:r>
            <a:r>
              <a:rPr lang="en-US" sz="1400" dirty="0" err="1"/>
              <a:t>inserido</a:t>
            </a:r>
            <a:r>
              <a:rPr lang="en-US" sz="1400" dirty="0"/>
              <a:t>?");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("* as </a:t>
            </a:r>
            <a:r>
              <a:rPr lang="en-US" sz="1400" dirty="0" err="1"/>
              <a:t>conexões</a:t>
            </a:r>
            <a:r>
              <a:rPr lang="en-US" sz="1400" dirty="0"/>
              <a:t> </a:t>
            </a:r>
            <a:r>
              <a:rPr lang="en-US" sz="1400" dirty="0" err="1"/>
              <a:t>estão</a:t>
            </a:r>
            <a:r>
              <a:rPr lang="en-US" sz="1400" dirty="0"/>
              <a:t> </a:t>
            </a:r>
            <a:r>
              <a:rPr lang="en-US" sz="1400" dirty="0" err="1"/>
              <a:t>ligadas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r>
              <a:rPr lang="en-US" sz="1400" dirty="0"/>
              <a:t>?");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("* o </a:t>
            </a:r>
            <a:r>
              <a:rPr lang="en-US" sz="1400" dirty="0" err="1"/>
              <a:t>pino</a:t>
            </a:r>
            <a:r>
              <a:rPr lang="en-US" sz="1400" dirty="0"/>
              <a:t> CS do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está</a:t>
            </a:r>
            <a:r>
              <a:rPr lang="en-US" sz="1400" dirty="0"/>
              <a:t> </a:t>
            </a:r>
            <a:r>
              <a:rPr lang="en-US" sz="1400" dirty="0" err="1"/>
              <a:t>conectado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r>
              <a:rPr lang="en-US" sz="1400" dirty="0"/>
              <a:t> no Arduino?");</a:t>
            </a:r>
          </a:p>
          <a:p>
            <a:r>
              <a:rPr lang="en-US" sz="1400" dirty="0"/>
              <a:t>    while (1);                                                                              // se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inicializou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r>
              <a:rPr lang="en-US" sz="1400" dirty="0"/>
              <a:t>, o Arduino </a:t>
            </a:r>
            <a:r>
              <a:rPr lang="en-US" sz="1400" dirty="0" err="1"/>
              <a:t>permanece</a:t>
            </a:r>
            <a:r>
              <a:rPr lang="en-US" sz="1400" dirty="0"/>
              <a:t> </a:t>
            </a:r>
            <a:r>
              <a:rPr lang="en-US" sz="1400" dirty="0" err="1"/>
              <a:t>neste</a:t>
            </a:r>
            <a:r>
              <a:rPr lang="en-US" sz="1400" dirty="0"/>
              <a:t> </a:t>
            </a:r>
            <a:r>
              <a:rPr lang="en-US" sz="1400" dirty="0" err="1"/>
              <a:t>comando</a:t>
            </a:r>
            <a:endParaRPr lang="en-US" sz="1400" dirty="0"/>
          </a:p>
          <a:p>
            <a:r>
              <a:rPr lang="en-US" sz="1400" dirty="0"/>
              <a:t>  } else {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("O </a:t>
            </a:r>
            <a:r>
              <a:rPr lang="en-US" sz="1400" dirty="0" err="1"/>
              <a:t>cartão</a:t>
            </a:r>
            <a:r>
              <a:rPr lang="en-US" sz="1400" dirty="0"/>
              <a:t> </a:t>
            </a:r>
            <a:r>
              <a:rPr lang="en-US" sz="1400" dirty="0" err="1"/>
              <a:t>foi</a:t>
            </a:r>
            <a:r>
              <a:rPr lang="en-US" sz="1400" dirty="0"/>
              <a:t> </a:t>
            </a:r>
            <a:r>
              <a:rPr lang="en-US" sz="1400" dirty="0" err="1"/>
              <a:t>inicializado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r>
              <a:rPr lang="en-US" sz="1400" dirty="0"/>
              <a:t>.");                              // se </a:t>
            </a:r>
            <a:r>
              <a:rPr lang="en-US" sz="1400" dirty="0" err="1"/>
              <a:t>tudo</a:t>
            </a:r>
            <a:r>
              <a:rPr lang="en-US" sz="1400" dirty="0"/>
              <a:t> </a:t>
            </a:r>
            <a:r>
              <a:rPr lang="en-US" sz="1400" dirty="0" err="1"/>
              <a:t>está</a:t>
            </a:r>
            <a:r>
              <a:rPr lang="en-US" sz="1400" dirty="0"/>
              <a:t> OK, </a:t>
            </a:r>
            <a:r>
              <a:rPr lang="en-US" sz="1400" dirty="0" err="1"/>
              <a:t>escreve</a:t>
            </a:r>
            <a:r>
              <a:rPr lang="en-US" sz="1400" dirty="0"/>
              <a:t>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mensagem</a:t>
            </a:r>
            <a:endParaRPr lang="en-US" sz="1400" dirty="0"/>
          </a:p>
          <a:p>
            <a:r>
              <a:rPr lang="en-US" sz="14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65732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011609-EEE5-4806-B4F4-FFF0E95E02DD}"/>
              </a:ext>
            </a:extLst>
          </p:cNvPr>
          <p:cNvSpPr txBox="1"/>
          <p:nvPr/>
        </p:nvSpPr>
        <p:spPr>
          <a:xfrm>
            <a:off x="557463" y="1471910"/>
            <a:ext cx="11634537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// </a:t>
            </a:r>
            <a:r>
              <a:rPr lang="en-US" sz="1400" dirty="0" err="1"/>
              <a:t>escreve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serial o </a:t>
            </a:r>
            <a:r>
              <a:rPr lang="en-US" sz="1400" dirty="0" err="1"/>
              <a:t>tipo</a:t>
            </a:r>
            <a:r>
              <a:rPr lang="en-US" sz="1400" dirty="0"/>
              <a:t> de </a:t>
            </a:r>
            <a:r>
              <a:rPr lang="en-US" sz="1400" dirty="0" err="1"/>
              <a:t>cartão</a:t>
            </a:r>
            <a:endParaRPr lang="en-US" sz="1400" dirty="0"/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</a:t>
            </a:r>
            <a:r>
              <a:rPr lang="en-US" sz="1400" dirty="0" err="1"/>
              <a:t>Cartao</a:t>
            </a:r>
            <a:r>
              <a:rPr lang="en-US" sz="1400" dirty="0"/>
              <a:t> </a:t>
            </a:r>
            <a:r>
              <a:rPr lang="en-US" sz="1400" dirty="0" err="1"/>
              <a:t>tipo</a:t>
            </a:r>
            <a:r>
              <a:rPr lang="en-US" sz="1400" dirty="0"/>
              <a:t>:         ");</a:t>
            </a:r>
          </a:p>
          <a:p>
            <a:r>
              <a:rPr lang="en-US" sz="1400" dirty="0"/>
              <a:t>  switch (</a:t>
            </a:r>
            <a:r>
              <a:rPr lang="en-US" sz="1400" dirty="0" err="1"/>
              <a:t>card.type</a:t>
            </a:r>
            <a:r>
              <a:rPr lang="en-US" sz="1400" dirty="0"/>
              <a:t>()) {</a:t>
            </a:r>
          </a:p>
          <a:p>
            <a:r>
              <a:rPr lang="en-US" sz="1400" dirty="0"/>
              <a:t>    case SD_CARD_TYPE_SD1: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Serial.println</a:t>
            </a:r>
            <a:r>
              <a:rPr lang="en-US" sz="1400" dirty="0"/>
              <a:t>("SD1");</a:t>
            </a:r>
          </a:p>
          <a:p>
            <a:r>
              <a:rPr lang="en-US" sz="1400" dirty="0"/>
              <a:t>      break;</a:t>
            </a:r>
          </a:p>
          <a:p>
            <a:r>
              <a:rPr lang="en-US" sz="1400" dirty="0"/>
              <a:t>    case SD_CARD_TYPE_SD2: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Serial.println</a:t>
            </a:r>
            <a:r>
              <a:rPr lang="en-US" sz="1400" dirty="0"/>
              <a:t>("SD2");</a:t>
            </a:r>
          </a:p>
          <a:p>
            <a:r>
              <a:rPr lang="en-US" sz="1400" dirty="0"/>
              <a:t>      break;</a:t>
            </a:r>
          </a:p>
          <a:p>
            <a:r>
              <a:rPr lang="en-US" sz="1400" dirty="0"/>
              <a:t>    case SD_CARD_TYPE_SDHC: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Serial.println</a:t>
            </a:r>
            <a:r>
              <a:rPr lang="en-US" sz="1400" dirty="0"/>
              <a:t>("SDHC");</a:t>
            </a:r>
          </a:p>
          <a:p>
            <a:r>
              <a:rPr lang="en-US" sz="1400" dirty="0"/>
              <a:t>      break;</a:t>
            </a:r>
          </a:p>
          <a:p>
            <a:r>
              <a:rPr lang="en-US" sz="1400" dirty="0"/>
              <a:t>    default: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Serial.println</a:t>
            </a:r>
            <a:r>
              <a:rPr lang="en-US" sz="1400" dirty="0"/>
              <a:t>("</a:t>
            </a:r>
            <a:r>
              <a:rPr lang="en-US" sz="1400" dirty="0" err="1"/>
              <a:t>Desconhecido</a:t>
            </a:r>
            <a:r>
              <a:rPr lang="en-US" sz="1400" dirty="0"/>
              <a:t>");</a:t>
            </a:r>
          </a:p>
          <a:p>
            <a:r>
              <a:rPr lang="en-US" sz="1400" dirty="0"/>
              <a:t>  }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// A </a:t>
            </a:r>
            <a:r>
              <a:rPr lang="en-US" sz="1400" dirty="0" err="1"/>
              <a:t>partir</a:t>
            </a:r>
            <a:r>
              <a:rPr lang="en-US" sz="1400" dirty="0"/>
              <a:t> </a:t>
            </a:r>
            <a:r>
              <a:rPr lang="en-US" sz="1400" dirty="0" err="1"/>
              <a:t>daqui</a:t>
            </a:r>
            <a:r>
              <a:rPr lang="en-US" sz="1400" dirty="0"/>
              <a:t> </a:t>
            </a:r>
            <a:r>
              <a:rPr lang="en-US" sz="1400" dirty="0" err="1"/>
              <a:t>será</a:t>
            </a:r>
            <a:r>
              <a:rPr lang="en-US" sz="1400" dirty="0"/>
              <a:t> </a:t>
            </a:r>
            <a:r>
              <a:rPr lang="en-US" sz="1400" dirty="0" err="1"/>
              <a:t>aberto</a:t>
            </a:r>
            <a:r>
              <a:rPr lang="en-US" sz="1400" dirty="0"/>
              <a:t> o 'volume'/'partition' - </a:t>
            </a:r>
            <a:r>
              <a:rPr lang="en-US" sz="1400" dirty="0" err="1"/>
              <a:t>ele</a:t>
            </a:r>
            <a:r>
              <a:rPr lang="en-US" sz="1400" dirty="0"/>
              <a:t> </a:t>
            </a:r>
            <a:r>
              <a:rPr lang="en-US" sz="1400" dirty="0" err="1"/>
              <a:t>deve</a:t>
            </a:r>
            <a:r>
              <a:rPr lang="en-US" sz="1400" dirty="0"/>
              <a:t> ser </a:t>
            </a:r>
            <a:r>
              <a:rPr lang="en-US" sz="1400" dirty="0" err="1"/>
              <a:t>formatado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FAT16 </a:t>
            </a:r>
            <a:r>
              <a:rPr lang="en-US" sz="1400" dirty="0" err="1"/>
              <a:t>ou</a:t>
            </a:r>
            <a:r>
              <a:rPr lang="en-US" sz="1400" dirty="0"/>
              <a:t> FAT32</a:t>
            </a:r>
          </a:p>
          <a:p>
            <a:r>
              <a:rPr lang="en-US" sz="1400" dirty="0"/>
              <a:t>  if (!</a:t>
            </a:r>
            <a:r>
              <a:rPr lang="en-US" sz="1400" dirty="0" err="1"/>
              <a:t>volume.init</a:t>
            </a:r>
            <a:r>
              <a:rPr lang="en-US" sz="1400" dirty="0"/>
              <a:t>(card)) {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Serial.println</a:t>
            </a:r>
            <a:r>
              <a:rPr lang="en-US" sz="1400" dirty="0"/>
              <a:t>("Nao é </a:t>
            </a:r>
            <a:r>
              <a:rPr lang="en-US" sz="1400" dirty="0" err="1"/>
              <a:t>possivel</a:t>
            </a:r>
            <a:r>
              <a:rPr lang="en-US" sz="1400" dirty="0"/>
              <a:t> </a:t>
            </a:r>
            <a:r>
              <a:rPr lang="en-US" sz="1400" dirty="0" err="1"/>
              <a:t>encontrar</a:t>
            </a:r>
            <a:r>
              <a:rPr lang="en-US" sz="1400" dirty="0"/>
              <a:t> </a:t>
            </a:r>
            <a:r>
              <a:rPr lang="en-US" sz="1400" dirty="0" err="1"/>
              <a:t>particao</a:t>
            </a:r>
            <a:r>
              <a:rPr lang="en-US" sz="1400" dirty="0"/>
              <a:t> FAT16/FAT32.\</a:t>
            </a:r>
            <a:r>
              <a:rPr lang="en-US" sz="1400" dirty="0" err="1"/>
              <a:t>nVerifique</a:t>
            </a:r>
            <a:r>
              <a:rPr lang="en-US" sz="1400" dirty="0"/>
              <a:t> se o </a:t>
            </a:r>
            <a:r>
              <a:rPr lang="en-US" sz="1400" dirty="0" err="1"/>
              <a:t>cartao</a:t>
            </a:r>
            <a:r>
              <a:rPr lang="en-US" sz="1400" dirty="0"/>
              <a:t> </a:t>
            </a:r>
            <a:r>
              <a:rPr lang="en-US" sz="1400" dirty="0" err="1"/>
              <a:t>foi</a:t>
            </a:r>
            <a:r>
              <a:rPr lang="en-US" sz="1400" dirty="0"/>
              <a:t> </a:t>
            </a:r>
            <a:r>
              <a:rPr lang="en-US" sz="1400" dirty="0" err="1"/>
              <a:t>formatado</a:t>
            </a:r>
            <a:r>
              <a:rPr lang="en-US" sz="1400" dirty="0"/>
              <a:t> </a:t>
            </a:r>
            <a:r>
              <a:rPr lang="en-US" sz="1400" dirty="0" err="1"/>
              <a:t>corretamente</a:t>
            </a:r>
            <a:r>
              <a:rPr lang="en-US" sz="1400" dirty="0"/>
              <a:t>.");</a:t>
            </a:r>
          </a:p>
          <a:p>
            <a:r>
              <a:rPr lang="en-US" sz="1400" dirty="0"/>
              <a:t>    while (1);</a:t>
            </a:r>
          </a:p>
          <a:p>
            <a:r>
              <a:rPr lang="en-US" sz="1400" dirty="0"/>
              <a:t>  }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1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781" y="240804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967F7A-6778-4B40-A6A2-FA46591D209D}"/>
              </a:ext>
            </a:extLst>
          </p:cNvPr>
          <p:cNvSpPr txBox="1"/>
          <p:nvPr/>
        </p:nvSpPr>
        <p:spPr>
          <a:xfrm>
            <a:off x="326858" y="120402"/>
            <a:ext cx="11538284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1400" dirty="0" err="1"/>
              <a:t>Serial.print</a:t>
            </a:r>
            <a:r>
              <a:rPr lang="en-US" sz="1400" dirty="0"/>
              <a:t>("Clusters:        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volume.clusterCount</a:t>
            </a:r>
            <a:r>
              <a:rPr lang="en-US" sz="1400" dirty="0"/>
              <a:t>());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("Blocks x Cluster: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volume.blocksPerCluster</a:t>
            </a:r>
            <a:r>
              <a:rPr lang="en-US" sz="1400" dirty="0"/>
              <a:t>());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("Total de </a:t>
            </a:r>
            <a:r>
              <a:rPr lang="en-US" sz="1400" dirty="0" err="1"/>
              <a:t>blocos</a:t>
            </a:r>
            <a:r>
              <a:rPr lang="en-US" sz="1400" dirty="0"/>
              <a:t>:    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volume.blocksPerCluster</a:t>
            </a:r>
            <a:r>
              <a:rPr lang="en-US" sz="1400" dirty="0"/>
              <a:t>() * </a:t>
            </a:r>
            <a:r>
              <a:rPr lang="en-US" sz="1400" dirty="0" err="1"/>
              <a:t>volume.clusterCount</a:t>
            </a:r>
            <a:r>
              <a:rPr lang="en-US" sz="1400" dirty="0"/>
              <a:t>());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();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// </a:t>
            </a:r>
            <a:r>
              <a:rPr lang="en-US" sz="1400" dirty="0" err="1"/>
              <a:t>escreve</a:t>
            </a:r>
            <a:r>
              <a:rPr lang="en-US" sz="1400" dirty="0"/>
              <a:t> o </a:t>
            </a:r>
            <a:r>
              <a:rPr lang="en-US" sz="1400" dirty="0" err="1"/>
              <a:t>tamanho</a:t>
            </a:r>
            <a:r>
              <a:rPr lang="en-US" sz="1400" dirty="0"/>
              <a:t> e o </a:t>
            </a:r>
            <a:r>
              <a:rPr lang="en-US" sz="1400" dirty="0" err="1"/>
              <a:t>tipo</a:t>
            </a:r>
            <a:r>
              <a:rPr lang="en-US" sz="1400" dirty="0"/>
              <a:t> do volume </a:t>
            </a:r>
            <a:r>
              <a:rPr lang="en-US" sz="1400" dirty="0" err="1"/>
              <a:t>tipo</a:t>
            </a:r>
            <a:r>
              <a:rPr lang="en-US" sz="1400" dirty="0"/>
              <a:t> FAT</a:t>
            </a:r>
          </a:p>
          <a:p>
            <a:r>
              <a:rPr lang="en-US" sz="1400" dirty="0"/>
              <a:t>  uint32_t </a:t>
            </a:r>
            <a:r>
              <a:rPr lang="en-US" sz="1400" dirty="0" err="1"/>
              <a:t>volumesize</a:t>
            </a:r>
            <a:r>
              <a:rPr lang="en-US" sz="1400" dirty="0"/>
              <a:t>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("Volume é do </a:t>
            </a:r>
            <a:r>
              <a:rPr lang="en-US" sz="1400" dirty="0" err="1"/>
              <a:t>tipo</a:t>
            </a:r>
            <a:r>
              <a:rPr lang="en-US" sz="1400" dirty="0"/>
              <a:t>:    FAT");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volume.fatType</a:t>
            </a:r>
            <a:r>
              <a:rPr lang="en-US" sz="1400" dirty="0"/>
              <a:t>(), DEC);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volumesize</a:t>
            </a:r>
            <a:r>
              <a:rPr lang="en-US" sz="1400" dirty="0"/>
              <a:t> = </a:t>
            </a:r>
            <a:r>
              <a:rPr lang="en-US" sz="1400" dirty="0" err="1"/>
              <a:t>volume.blocksPerCluster</a:t>
            </a:r>
            <a:r>
              <a:rPr lang="en-US" sz="1400" dirty="0"/>
              <a:t>();    // clusters </a:t>
            </a:r>
            <a:r>
              <a:rPr lang="en-US" sz="1400" dirty="0" err="1"/>
              <a:t>são</a:t>
            </a:r>
            <a:r>
              <a:rPr lang="en-US" sz="1400" dirty="0"/>
              <a:t> </a:t>
            </a:r>
            <a:r>
              <a:rPr lang="en-US" sz="1400" dirty="0" err="1"/>
              <a:t>coleções</a:t>
            </a:r>
            <a:r>
              <a:rPr lang="en-US" sz="1400" dirty="0"/>
              <a:t> de </a:t>
            </a:r>
            <a:r>
              <a:rPr lang="en-US" sz="1400" dirty="0" err="1"/>
              <a:t>blocos</a:t>
            </a:r>
            <a:endParaRPr lang="en-US" sz="1400" dirty="0"/>
          </a:p>
          <a:p>
            <a:r>
              <a:rPr lang="en-US" sz="1400" dirty="0"/>
              <a:t>  </a:t>
            </a:r>
            <a:r>
              <a:rPr lang="en-US" sz="1400" dirty="0" err="1"/>
              <a:t>volumesize</a:t>
            </a:r>
            <a:r>
              <a:rPr lang="en-US" sz="1400" dirty="0"/>
              <a:t> *= </a:t>
            </a:r>
            <a:r>
              <a:rPr lang="en-US" sz="1400" dirty="0" err="1"/>
              <a:t>volume.clusterCount</a:t>
            </a:r>
            <a:r>
              <a:rPr lang="en-US" sz="1400" dirty="0"/>
              <a:t>();       // </a:t>
            </a:r>
            <a:r>
              <a:rPr lang="en-US" sz="1400" dirty="0" err="1"/>
              <a:t>deverão</a:t>
            </a:r>
            <a:r>
              <a:rPr lang="en-US" sz="1400" dirty="0"/>
              <a:t> </a:t>
            </a:r>
            <a:r>
              <a:rPr lang="en-US" sz="1400" dirty="0" err="1"/>
              <a:t>ter</a:t>
            </a:r>
            <a:r>
              <a:rPr lang="en-US" sz="1400" dirty="0"/>
              <a:t> </a:t>
            </a:r>
            <a:r>
              <a:rPr lang="en-US" sz="1400" dirty="0" err="1"/>
              <a:t>muitos</a:t>
            </a:r>
            <a:r>
              <a:rPr lang="en-US" sz="1400" dirty="0"/>
              <a:t> clusters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volumesize</a:t>
            </a:r>
            <a:r>
              <a:rPr lang="en-US" sz="1400" dirty="0"/>
              <a:t> /= 2;                           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</a:t>
            </a:r>
            <a:r>
              <a:rPr lang="en-US" sz="1400" dirty="0" err="1"/>
              <a:t>Tamanho</a:t>
            </a:r>
            <a:r>
              <a:rPr lang="en-US" sz="1400" dirty="0"/>
              <a:t> do volume (</a:t>
            </a:r>
            <a:r>
              <a:rPr lang="en-US" sz="1400" dirty="0" err="1"/>
              <a:t>Kb</a:t>
            </a:r>
            <a:r>
              <a:rPr lang="en-US" sz="1400" dirty="0"/>
              <a:t>):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volumesize</a:t>
            </a:r>
            <a:r>
              <a:rPr lang="en-US" sz="1400" dirty="0"/>
              <a:t>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</a:t>
            </a:r>
            <a:r>
              <a:rPr lang="en-US" sz="1400" dirty="0" err="1"/>
              <a:t>Tamanho</a:t>
            </a:r>
            <a:r>
              <a:rPr lang="en-US" sz="1400" dirty="0"/>
              <a:t> do volume (Mb):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volumesize</a:t>
            </a:r>
            <a:r>
              <a:rPr lang="en-US" sz="1400" dirty="0"/>
              <a:t> /= 1024;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</a:t>
            </a:r>
            <a:r>
              <a:rPr lang="en-US" sz="1400" dirty="0" err="1"/>
              <a:t>volumesize</a:t>
            </a:r>
            <a:r>
              <a:rPr lang="en-US" sz="1400" dirty="0"/>
              <a:t>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</a:t>
            </a:r>
            <a:r>
              <a:rPr lang="en-US" sz="1400" dirty="0"/>
              <a:t>("</a:t>
            </a:r>
            <a:r>
              <a:rPr lang="en-US" sz="1400" dirty="0" err="1"/>
              <a:t>Tamanho</a:t>
            </a:r>
            <a:r>
              <a:rPr lang="en-US" sz="1400" dirty="0"/>
              <a:t> do volume (Gb): 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((float)</a:t>
            </a:r>
            <a:r>
              <a:rPr lang="en-US" sz="1400" dirty="0" err="1"/>
              <a:t>volumesize</a:t>
            </a:r>
            <a:r>
              <a:rPr lang="en-US" sz="1400" dirty="0"/>
              <a:t> / 1024.0);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Serial.println</a:t>
            </a:r>
            <a:r>
              <a:rPr lang="en-US" sz="1400" dirty="0"/>
              <a:t>("\</a:t>
            </a:r>
            <a:r>
              <a:rPr lang="en-US" sz="1400" dirty="0" err="1"/>
              <a:t>nArquivos</a:t>
            </a:r>
            <a:r>
              <a:rPr lang="en-US" sz="1400" dirty="0"/>
              <a:t> </a:t>
            </a:r>
            <a:r>
              <a:rPr lang="en-US" sz="1400" dirty="0" err="1"/>
              <a:t>encontrados</a:t>
            </a:r>
            <a:r>
              <a:rPr lang="en-US" sz="1400" dirty="0"/>
              <a:t> no </a:t>
            </a:r>
            <a:r>
              <a:rPr lang="en-US" sz="1400" dirty="0" err="1"/>
              <a:t>cartao</a:t>
            </a:r>
            <a:r>
              <a:rPr lang="en-US" sz="1400" dirty="0"/>
              <a:t> (</a:t>
            </a:r>
            <a:r>
              <a:rPr lang="en-US" sz="1400" dirty="0" err="1"/>
              <a:t>nome</a:t>
            </a:r>
            <a:r>
              <a:rPr lang="en-US" sz="1400" dirty="0"/>
              <a:t>, data e </a:t>
            </a:r>
            <a:r>
              <a:rPr lang="en-US" sz="1400" dirty="0" err="1"/>
              <a:t>tamanho</a:t>
            </a:r>
            <a:r>
              <a:rPr lang="en-US" sz="1400" dirty="0"/>
              <a:t> </a:t>
            </a:r>
            <a:r>
              <a:rPr lang="en-US" sz="1400" dirty="0" err="1"/>
              <a:t>em</a:t>
            </a:r>
            <a:r>
              <a:rPr lang="en-US" sz="1400" dirty="0"/>
              <a:t> bytes): ");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root.openRoot</a:t>
            </a:r>
            <a:r>
              <a:rPr lang="en-US" sz="1400" dirty="0"/>
              <a:t>(volume);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// </a:t>
            </a:r>
            <a:r>
              <a:rPr lang="en-US" sz="1400" dirty="0" err="1"/>
              <a:t>lista</a:t>
            </a:r>
            <a:r>
              <a:rPr lang="en-US" sz="1400" dirty="0"/>
              <a:t> </a:t>
            </a:r>
            <a:r>
              <a:rPr lang="en-US" sz="1400" dirty="0" err="1"/>
              <a:t>todos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arquivos</a:t>
            </a:r>
            <a:r>
              <a:rPr lang="en-US" sz="1400" dirty="0"/>
              <a:t> do </a:t>
            </a:r>
            <a:r>
              <a:rPr lang="en-US" sz="1400" dirty="0" err="1"/>
              <a:t>cartão</a:t>
            </a:r>
            <a:r>
              <a:rPr lang="en-US" sz="1400" dirty="0"/>
              <a:t> com data e </a:t>
            </a:r>
            <a:r>
              <a:rPr lang="en-US" sz="1400" dirty="0" err="1"/>
              <a:t>tamanho</a:t>
            </a:r>
            <a:endParaRPr lang="en-US" sz="1400" dirty="0"/>
          </a:p>
          <a:p>
            <a:r>
              <a:rPr lang="en-US" sz="1400" dirty="0"/>
              <a:t>  root.ls(LS_R | LS_DATE | LS_SIZE);</a:t>
            </a:r>
          </a:p>
        </p:txBody>
      </p:sp>
    </p:spTree>
    <p:extLst>
      <p:ext uri="{BB962C8B-B14F-4D97-AF65-F5344CB8AC3E}">
        <p14:creationId xmlns:p14="http://schemas.microsoft.com/office/powerpoint/2010/main" val="120719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781" y="240804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E8746D-C0DC-40FF-A3BA-1AC9CBC84DF7}"/>
              </a:ext>
            </a:extLst>
          </p:cNvPr>
          <p:cNvSpPr txBox="1"/>
          <p:nvPr/>
        </p:nvSpPr>
        <p:spPr>
          <a:xfrm>
            <a:off x="395416" y="559966"/>
            <a:ext cx="1215904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// </a:t>
            </a:r>
            <a:r>
              <a:rPr lang="en-US" sz="1200" dirty="0" err="1"/>
              <a:t>verifica</a:t>
            </a:r>
            <a:r>
              <a:rPr lang="en-US" sz="1200" dirty="0"/>
              <a:t> se o </a:t>
            </a:r>
            <a:r>
              <a:rPr lang="en-US" sz="1200" dirty="0" err="1"/>
              <a:t>cartão</a:t>
            </a:r>
            <a:r>
              <a:rPr lang="en-US" sz="1200" dirty="0"/>
              <a:t> </a:t>
            </a:r>
            <a:r>
              <a:rPr lang="en-US" sz="1200" dirty="0" err="1"/>
              <a:t>foi</a:t>
            </a:r>
            <a:r>
              <a:rPr lang="en-US" sz="1200" dirty="0"/>
              <a:t> </a:t>
            </a:r>
            <a:r>
              <a:rPr lang="en-US" sz="1200" dirty="0" err="1"/>
              <a:t>inicializado</a:t>
            </a:r>
            <a:r>
              <a:rPr lang="en-US" sz="1200" dirty="0"/>
              <a:t> </a:t>
            </a:r>
            <a:r>
              <a:rPr lang="en-US" sz="1200" dirty="0" err="1"/>
              <a:t>corretamente</a:t>
            </a:r>
            <a:endParaRPr lang="en-US" sz="1200" dirty="0"/>
          </a:p>
          <a:p>
            <a:r>
              <a:rPr lang="en-US" sz="1200" dirty="0"/>
              <a:t>  if (!</a:t>
            </a:r>
            <a:r>
              <a:rPr lang="en-US" sz="1200" dirty="0" err="1"/>
              <a:t>SD.begin</a:t>
            </a:r>
            <a:r>
              <a:rPr lang="en-US" sz="1200" dirty="0"/>
              <a:t>()) {                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Serial.println</a:t>
            </a:r>
            <a:r>
              <a:rPr lang="en-US" sz="1200" dirty="0"/>
              <a:t>("</a:t>
            </a:r>
            <a:r>
              <a:rPr lang="en-US" sz="1200" dirty="0" err="1"/>
              <a:t>Falha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inicializacao</a:t>
            </a:r>
            <a:r>
              <a:rPr lang="en-US" sz="1200" dirty="0"/>
              <a:t>!");</a:t>
            </a:r>
          </a:p>
          <a:p>
            <a:r>
              <a:rPr lang="en-US" sz="1200" dirty="0"/>
              <a:t>    return;</a:t>
            </a:r>
          </a:p>
          <a:p>
            <a:r>
              <a:rPr lang="en-US" sz="1200" dirty="0"/>
              <a:t>  }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Serial.println</a:t>
            </a:r>
            <a:r>
              <a:rPr lang="en-US" sz="1200" dirty="0"/>
              <a:t>("</a:t>
            </a:r>
            <a:r>
              <a:rPr lang="en-US" sz="1200" dirty="0" err="1"/>
              <a:t>Inicialização</a:t>
            </a:r>
            <a:r>
              <a:rPr lang="en-US" sz="1200" dirty="0"/>
              <a:t> </a:t>
            </a:r>
            <a:r>
              <a:rPr lang="en-US" sz="1200" dirty="0" err="1"/>
              <a:t>correta</a:t>
            </a:r>
            <a:r>
              <a:rPr lang="en-US" sz="1200" dirty="0"/>
              <a:t>.");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// </a:t>
            </a:r>
            <a:r>
              <a:rPr lang="en-US" sz="1200" dirty="0" err="1"/>
              <a:t>Abre</a:t>
            </a:r>
            <a:r>
              <a:rPr lang="en-US" sz="1200" dirty="0"/>
              <a:t> </a:t>
            </a:r>
            <a:r>
              <a:rPr lang="en-US" sz="1200" dirty="0" err="1"/>
              <a:t>determinado</a:t>
            </a:r>
            <a:r>
              <a:rPr lang="en-US" sz="1200" dirty="0"/>
              <a:t> </a:t>
            </a:r>
            <a:r>
              <a:rPr lang="en-US" sz="1200" dirty="0" err="1"/>
              <a:t>arquivo</a:t>
            </a:r>
            <a:r>
              <a:rPr lang="en-US" sz="1200" dirty="0"/>
              <a:t> </a:t>
            </a:r>
          </a:p>
          <a:p>
            <a:r>
              <a:rPr lang="en-US" sz="1200" dirty="0"/>
              <a:t>  // </a:t>
            </a:r>
            <a:r>
              <a:rPr lang="en-US" sz="1200" dirty="0" err="1"/>
              <a:t>somente</a:t>
            </a:r>
            <a:r>
              <a:rPr lang="en-US" sz="1200" dirty="0"/>
              <a:t> um </a:t>
            </a:r>
            <a:r>
              <a:rPr lang="en-US" sz="1200" dirty="0" err="1"/>
              <a:t>arquivo</a:t>
            </a:r>
            <a:r>
              <a:rPr lang="en-US" sz="1200" dirty="0"/>
              <a:t> </a:t>
            </a:r>
            <a:r>
              <a:rPr lang="en-US" sz="1200" dirty="0" err="1"/>
              <a:t>pode</a:t>
            </a:r>
            <a:r>
              <a:rPr lang="en-US" sz="1200" dirty="0"/>
              <a:t> ser </a:t>
            </a:r>
            <a:r>
              <a:rPr lang="en-US" sz="1200" dirty="0" err="1"/>
              <a:t>aberto</a:t>
            </a:r>
            <a:r>
              <a:rPr lang="en-US" sz="1200" dirty="0"/>
              <a:t> de </a:t>
            </a:r>
            <a:r>
              <a:rPr lang="en-US" sz="1200" dirty="0" err="1"/>
              <a:t>cada</a:t>
            </a:r>
            <a:r>
              <a:rPr lang="en-US" sz="1200" dirty="0"/>
              <a:t> </a:t>
            </a:r>
            <a:r>
              <a:rPr lang="en-US" sz="1200" dirty="0" err="1"/>
              <a:t>vez</a:t>
            </a:r>
            <a:r>
              <a:rPr lang="en-US" sz="1200" dirty="0"/>
              <a:t>!!!</a:t>
            </a:r>
          </a:p>
          <a:p>
            <a:r>
              <a:rPr lang="en-US" sz="1200" dirty="0"/>
              <a:t>  //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caso</a:t>
            </a:r>
            <a:r>
              <a:rPr lang="en-US" sz="1200" dirty="0"/>
              <a:t> de </a:t>
            </a:r>
            <a:r>
              <a:rPr lang="en-US" sz="1200" dirty="0" err="1"/>
              <a:t>necessidade</a:t>
            </a:r>
            <a:r>
              <a:rPr lang="en-US" sz="1200" dirty="0"/>
              <a:t>, </a:t>
            </a:r>
            <a:r>
              <a:rPr lang="en-US" sz="1200" dirty="0" err="1"/>
              <a:t>feche</a:t>
            </a:r>
            <a:r>
              <a:rPr lang="en-US" sz="1200" dirty="0"/>
              <a:t> um e </a:t>
            </a:r>
            <a:r>
              <a:rPr lang="en-US" sz="1200" dirty="0" err="1"/>
              <a:t>depois</a:t>
            </a:r>
            <a:r>
              <a:rPr lang="en-US" sz="1200" dirty="0"/>
              <a:t> </a:t>
            </a:r>
            <a:r>
              <a:rPr lang="en-US" sz="1200" dirty="0" err="1"/>
              <a:t>abra</a:t>
            </a:r>
            <a:r>
              <a:rPr lang="en-US" sz="1200" dirty="0"/>
              <a:t> o outro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myFile</a:t>
            </a:r>
            <a:r>
              <a:rPr lang="en-US" sz="1200" dirty="0"/>
              <a:t> = </a:t>
            </a:r>
            <a:r>
              <a:rPr lang="en-US" sz="1200" dirty="0" err="1"/>
              <a:t>SD.open</a:t>
            </a:r>
            <a:r>
              <a:rPr lang="en-US" sz="1200" dirty="0"/>
              <a:t>("Text6.txt", FILE_WRITE);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// se o </a:t>
            </a:r>
            <a:r>
              <a:rPr lang="en-US" sz="1200" dirty="0" err="1"/>
              <a:t>arquivo</a:t>
            </a:r>
            <a:r>
              <a:rPr lang="en-US" sz="1200" dirty="0"/>
              <a:t> </a:t>
            </a:r>
            <a:r>
              <a:rPr lang="en-US" sz="1200" dirty="0" err="1"/>
              <a:t>foi</a:t>
            </a:r>
            <a:r>
              <a:rPr lang="en-US" sz="1200" dirty="0"/>
              <a:t> </a:t>
            </a:r>
            <a:r>
              <a:rPr lang="en-US" sz="1200" dirty="0" err="1"/>
              <a:t>aberto</a:t>
            </a:r>
            <a:r>
              <a:rPr lang="en-US" sz="1200" dirty="0"/>
              <a:t> </a:t>
            </a:r>
            <a:r>
              <a:rPr lang="en-US" sz="1200" dirty="0" err="1"/>
              <a:t>corretamente</a:t>
            </a:r>
            <a:r>
              <a:rPr lang="en-US" sz="1200" dirty="0"/>
              <a:t>, </a:t>
            </a:r>
            <a:r>
              <a:rPr lang="en-US" sz="1200" dirty="0" err="1"/>
              <a:t>escreve</a:t>
            </a:r>
            <a:r>
              <a:rPr lang="en-US" sz="1200" dirty="0"/>
              <a:t> </a:t>
            </a:r>
            <a:r>
              <a:rPr lang="en-US" sz="1200" dirty="0" err="1"/>
              <a:t>nele</a:t>
            </a:r>
            <a:r>
              <a:rPr lang="en-US" sz="1200" dirty="0"/>
              <a:t>.</a:t>
            </a:r>
          </a:p>
          <a:p>
            <a:r>
              <a:rPr lang="en-US" sz="1200" dirty="0"/>
              <a:t>  if (</a:t>
            </a:r>
            <a:r>
              <a:rPr lang="en-US" sz="1200" dirty="0" err="1"/>
              <a:t>myFile</a:t>
            </a:r>
            <a:r>
              <a:rPr lang="en-US" sz="1200" dirty="0"/>
              <a:t>) 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Serial.print</a:t>
            </a:r>
            <a:r>
              <a:rPr lang="en-US" sz="1200" dirty="0"/>
              <a:t>("</a:t>
            </a:r>
            <a:r>
              <a:rPr lang="en-US" sz="1200" dirty="0" err="1"/>
              <a:t>Escrevendo</a:t>
            </a:r>
            <a:r>
              <a:rPr lang="en-US" sz="1200" dirty="0"/>
              <a:t> no </a:t>
            </a:r>
            <a:r>
              <a:rPr lang="en-US" sz="1200" dirty="0" err="1"/>
              <a:t>arquivo</a:t>
            </a:r>
            <a:r>
              <a:rPr lang="en-US" sz="1200" dirty="0"/>
              <a:t> Text6.txt...");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myFile.println</a:t>
            </a:r>
            <a:r>
              <a:rPr lang="en-US" sz="1200" dirty="0"/>
              <a:t>("tempo, </a:t>
            </a:r>
            <a:r>
              <a:rPr lang="en-US" sz="1200" dirty="0" err="1"/>
              <a:t>leitura</a:t>
            </a:r>
            <a:r>
              <a:rPr lang="en-US" sz="1200" dirty="0"/>
              <a:t>");                     // </a:t>
            </a:r>
            <a:r>
              <a:rPr lang="en-US" sz="1200" dirty="0" err="1"/>
              <a:t>escreve</a:t>
            </a:r>
            <a:r>
              <a:rPr lang="en-US" sz="1200" dirty="0"/>
              <a:t> o </a:t>
            </a:r>
            <a:r>
              <a:rPr lang="en-US" sz="1200" dirty="0" err="1"/>
              <a:t>cabeçalho</a:t>
            </a:r>
            <a:r>
              <a:rPr lang="en-US" sz="1200" dirty="0"/>
              <a:t> do </a:t>
            </a:r>
            <a:r>
              <a:rPr lang="en-US" sz="1200" dirty="0" err="1"/>
              <a:t>arquivo</a:t>
            </a:r>
            <a:endParaRPr lang="en-US" sz="1200" dirty="0"/>
          </a:p>
          <a:p>
            <a:r>
              <a:rPr lang="en-US" sz="1200" dirty="0"/>
              <a:t>    for (t=0; t&lt;1000; t++){                               // </a:t>
            </a:r>
            <a:r>
              <a:rPr lang="en-US" sz="1200" dirty="0" err="1"/>
              <a:t>aqui</a:t>
            </a:r>
            <a:r>
              <a:rPr lang="en-US" sz="1200" dirty="0"/>
              <a:t> </a:t>
            </a:r>
            <a:r>
              <a:rPr lang="en-US" sz="1200" dirty="0" err="1"/>
              <a:t>inicia</a:t>
            </a:r>
            <a:r>
              <a:rPr lang="en-US" sz="1200" dirty="0"/>
              <a:t> o </a:t>
            </a:r>
            <a:r>
              <a:rPr lang="en-US" sz="1200" dirty="0" err="1"/>
              <a:t>laço</a:t>
            </a:r>
            <a:r>
              <a:rPr lang="en-US" sz="1200" dirty="0"/>
              <a:t> de </a:t>
            </a:r>
            <a:r>
              <a:rPr lang="en-US" sz="1200" dirty="0" err="1"/>
              <a:t>leituras</a:t>
            </a:r>
            <a:r>
              <a:rPr lang="en-US" sz="1200" dirty="0"/>
              <a:t> </a:t>
            </a:r>
            <a:r>
              <a:rPr lang="en-US" sz="1200" dirty="0" err="1"/>
              <a:t>analógicas</a:t>
            </a:r>
            <a:r>
              <a:rPr lang="en-US" sz="1200" dirty="0"/>
              <a:t> a </a:t>
            </a:r>
            <a:r>
              <a:rPr lang="en-US" sz="1200" dirty="0" err="1"/>
              <a:t>serem</a:t>
            </a:r>
            <a:r>
              <a:rPr lang="en-US" sz="1200" dirty="0"/>
              <a:t> </a:t>
            </a:r>
            <a:r>
              <a:rPr lang="en-US" sz="1200" dirty="0" err="1"/>
              <a:t>gravadas</a:t>
            </a:r>
            <a:r>
              <a:rPr lang="en-US" sz="1200" dirty="0"/>
              <a:t> no </a:t>
            </a:r>
            <a:r>
              <a:rPr lang="en-US" sz="1200" dirty="0" err="1"/>
              <a:t>arquivo</a:t>
            </a:r>
            <a:endParaRPr lang="en-US" sz="1200" dirty="0"/>
          </a:p>
          <a:p>
            <a:r>
              <a:rPr lang="en-US" sz="1200" dirty="0"/>
              <a:t>      </a:t>
            </a:r>
            <a:r>
              <a:rPr lang="en-US" sz="1200" dirty="0" err="1"/>
              <a:t>myFile.print</a:t>
            </a:r>
            <a:r>
              <a:rPr lang="en-US" sz="1200" dirty="0"/>
              <a:t>(t);                  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myFile.print</a:t>
            </a:r>
            <a:r>
              <a:rPr lang="en-US" sz="1200" dirty="0"/>
              <a:t>(",");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leitura</a:t>
            </a:r>
            <a:r>
              <a:rPr lang="en-US" sz="1200" dirty="0"/>
              <a:t>=</a:t>
            </a:r>
            <a:r>
              <a:rPr lang="en-US" sz="1200" dirty="0" err="1"/>
              <a:t>analogRead</a:t>
            </a:r>
            <a:r>
              <a:rPr lang="en-US" sz="1200" dirty="0"/>
              <a:t>(A0);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delayMicroseconds</a:t>
            </a:r>
            <a:r>
              <a:rPr lang="en-US" sz="1200" dirty="0"/>
              <a:t>(50);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myFile.println</a:t>
            </a:r>
            <a:r>
              <a:rPr lang="en-US" sz="1200" dirty="0"/>
              <a:t>(</a:t>
            </a:r>
            <a:r>
              <a:rPr lang="en-US" sz="1200" dirty="0" err="1"/>
              <a:t>leitura</a:t>
            </a:r>
            <a:r>
              <a:rPr lang="en-US" sz="1200" dirty="0"/>
              <a:t>);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    </a:t>
            </a:r>
          </a:p>
          <a:p>
            <a:r>
              <a:rPr lang="en-US" sz="1200" dirty="0"/>
              <a:t>  // </a:t>
            </a:r>
            <a:r>
              <a:rPr lang="en-US" sz="1200" dirty="0" err="1"/>
              <a:t>Fecha</a:t>
            </a:r>
            <a:r>
              <a:rPr lang="en-US" sz="1200" dirty="0"/>
              <a:t> o </a:t>
            </a:r>
            <a:r>
              <a:rPr lang="en-US" sz="1200" dirty="0" err="1"/>
              <a:t>arquivo</a:t>
            </a:r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myFile.close</a:t>
            </a:r>
            <a:r>
              <a:rPr lang="en-US" sz="1200" dirty="0"/>
              <a:t>();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Serial.println</a:t>
            </a:r>
            <a:r>
              <a:rPr lang="en-US" sz="1200" dirty="0"/>
              <a:t>("Ok, </a:t>
            </a:r>
            <a:r>
              <a:rPr lang="en-US" sz="1200" dirty="0" err="1"/>
              <a:t>aquivo</a:t>
            </a:r>
            <a:r>
              <a:rPr lang="en-US" sz="1200" dirty="0"/>
              <a:t> </a:t>
            </a:r>
            <a:r>
              <a:rPr lang="en-US" sz="1200" dirty="0" err="1"/>
              <a:t>fechado</a:t>
            </a:r>
            <a:r>
              <a:rPr lang="en-US" sz="1200" dirty="0"/>
              <a:t>.");</a:t>
            </a:r>
          </a:p>
          <a:p>
            <a:r>
              <a:rPr lang="en-US" sz="1200" dirty="0"/>
              <a:t>  } else {</a:t>
            </a:r>
          </a:p>
          <a:p>
            <a:r>
              <a:rPr lang="en-US" sz="1200" dirty="0"/>
              <a:t>    // se o </a:t>
            </a:r>
            <a:r>
              <a:rPr lang="en-US" sz="1200" dirty="0" err="1"/>
              <a:t>arquivo</a:t>
            </a:r>
            <a:r>
              <a:rPr lang="en-US" sz="1200" dirty="0"/>
              <a:t> </a:t>
            </a:r>
            <a:r>
              <a:rPr lang="en-US" sz="1200" dirty="0" err="1"/>
              <a:t>não</a:t>
            </a:r>
            <a:r>
              <a:rPr lang="en-US" sz="1200" dirty="0"/>
              <a:t> </a:t>
            </a:r>
            <a:r>
              <a:rPr lang="en-US" sz="1200" dirty="0" err="1"/>
              <a:t>foi</a:t>
            </a:r>
            <a:r>
              <a:rPr lang="en-US" sz="1200" dirty="0"/>
              <a:t> </a:t>
            </a:r>
            <a:r>
              <a:rPr lang="en-US" sz="1200" dirty="0" err="1"/>
              <a:t>corretamente</a:t>
            </a:r>
            <a:r>
              <a:rPr lang="en-US" sz="1200" dirty="0"/>
              <a:t> </a:t>
            </a:r>
            <a:r>
              <a:rPr lang="en-US" sz="1200" dirty="0" err="1"/>
              <a:t>aberto</a:t>
            </a:r>
            <a:r>
              <a:rPr lang="en-US" sz="1200" dirty="0"/>
              <a:t>, </a:t>
            </a:r>
            <a:r>
              <a:rPr lang="en-US" sz="1200" dirty="0" err="1"/>
              <a:t>escreve</a:t>
            </a:r>
            <a:r>
              <a:rPr lang="en-US" sz="1200" dirty="0"/>
              <a:t> a </a:t>
            </a:r>
            <a:r>
              <a:rPr lang="en-US" sz="1200" dirty="0" err="1"/>
              <a:t>mensagem</a:t>
            </a:r>
            <a:r>
              <a:rPr lang="en-US" sz="1200" dirty="0"/>
              <a:t>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Serial.println</a:t>
            </a:r>
            <a:r>
              <a:rPr lang="en-US" sz="1200" dirty="0"/>
              <a:t>("</a:t>
            </a:r>
            <a:r>
              <a:rPr lang="en-US" sz="1200" dirty="0" err="1"/>
              <a:t>Erro</a:t>
            </a:r>
            <a:r>
              <a:rPr lang="en-US" sz="1200" dirty="0"/>
              <a:t>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abrir</a:t>
            </a:r>
            <a:r>
              <a:rPr lang="en-US" sz="1200" dirty="0"/>
              <a:t> Text6.txt");</a:t>
            </a:r>
          </a:p>
          <a:p>
            <a:r>
              <a:rPr lang="en-US" sz="12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34919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781" y="240804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SOFTWARE </a:t>
            </a:r>
            <a:r>
              <a:rPr lang="pt-BR" dirty="0">
                <a:sym typeface="Wingdings" panose="05000000000000000000" pitchFamily="2" charset="2"/>
              </a:rPr>
              <a:t>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775A32-4415-4057-80BA-63BB7746D0CF}"/>
              </a:ext>
            </a:extLst>
          </p:cNvPr>
          <p:cNvSpPr txBox="1"/>
          <p:nvPr/>
        </p:nvSpPr>
        <p:spPr>
          <a:xfrm>
            <a:off x="321275" y="240804"/>
            <a:ext cx="832845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// re-</a:t>
            </a:r>
            <a:r>
              <a:rPr lang="en-US" dirty="0" err="1"/>
              <a:t>abre</a:t>
            </a:r>
            <a:r>
              <a:rPr lang="en-US" dirty="0"/>
              <a:t> o </a:t>
            </a:r>
            <a:r>
              <a:rPr lang="en-US" dirty="0" err="1"/>
              <a:t>arquivo</a:t>
            </a:r>
            <a:r>
              <a:rPr lang="en-US" dirty="0"/>
              <a:t> para a </a:t>
            </a:r>
            <a:r>
              <a:rPr lang="en-US" dirty="0" err="1"/>
              <a:t>leitura</a:t>
            </a:r>
            <a:r>
              <a:rPr lang="en-US" dirty="0"/>
              <a:t> das </a:t>
            </a:r>
            <a:r>
              <a:rPr lang="en-US" dirty="0" err="1"/>
              <a:t>informações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myFile</a:t>
            </a:r>
            <a:r>
              <a:rPr lang="en-US" dirty="0"/>
              <a:t> = </a:t>
            </a:r>
            <a:r>
              <a:rPr lang="en-US" dirty="0" err="1"/>
              <a:t>SD.open</a:t>
            </a:r>
            <a:r>
              <a:rPr lang="en-US" dirty="0"/>
              <a:t>("Text6.txt");</a:t>
            </a:r>
          </a:p>
          <a:p>
            <a:r>
              <a:rPr lang="en-US" dirty="0"/>
              <a:t>  if (</a:t>
            </a:r>
            <a:r>
              <a:rPr lang="en-US" dirty="0" err="1"/>
              <a:t>myFile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Serial.println</a:t>
            </a:r>
            <a:r>
              <a:rPr lang="en-US" dirty="0"/>
              <a:t>("Text6.txt:");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</a:t>
            </a:r>
            <a:r>
              <a:rPr lang="en-US" dirty="0" err="1"/>
              <a:t>mantém</a:t>
            </a:r>
            <a:r>
              <a:rPr lang="en-US" dirty="0"/>
              <a:t> a </a:t>
            </a:r>
            <a:r>
              <a:rPr lang="en-US" dirty="0" err="1"/>
              <a:t>leitura</a:t>
            </a:r>
            <a:r>
              <a:rPr lang="en-US" dirty="0"/>
              <a:t> dos dados </a:t>
            </a:r>
            <a:r>
              <a:rPr lang="en-US" dirty="0" err="1"/>
              <a:t>até</a:t>
            </a:r>
            <a:r>
              <a:rPr lang="en-US" dirty="0"/>
              <a:t> o final do </a:t>
            </a:r>
            <a:r>
              <a:rPr lang="en-US" dirty="0" err="1"/>
              <a:t>arquivo</a:t>
            </a:r>
            <a:endParaRPr lang="en-US" dirty="0"/>
          </a:p>
          <a:p>
            <a:r>
              <a:rPr lang="en-US" dirty="0"/>
              <a:t>    while (</a:t>
            </a:r>
            <a:r>
              <a:rPr lang="en-US" dirty="0" err="1"/>
              <a:t>myFile.available</a:t>
            </a:r>
            <a:r>
              <a:rPr lang="en-US" dirty="0"/>
              <a:t>()) {</a:t>
            </a:r>
          </a:p>
          <a:p>
            <a:r>
              <a:rPr lang="en-US" dirty="0"/>
              <a:t>      </a:t>
            </a:r>
            <a:r>
              <a:rPr lang="en-US" dirty="0" err="1"/>
              <a:t>Serial.write</a:t>
            </a:r>
            <a:r>
              <a:rPr lang="en-US" dirty="0"/>
              <a:t>(</a:t>
            </a:r>
            <a:r>
              <a:rPr lang="en-US" dirty="0" err="1"/>
              <a:t>myFile.read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// </a:t>
            </a:r>
            <a:r>
              <a:rPr lang="en-US" dirty="0" err="1"/>
              <a:t>fecha</a:t>
            </a:r>
            <a:r>
              <a:rPr lang="en-US" dirty="0"/>
              <a:t> o </a:t>
            </a:r>
            <a:r>
              <a:rPr lang="en-US" dirty="0" err="1"/>
              <a:t>arquivo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myFile.close</a:t>
            </a:r>
            <a:r>
              <a:rPr lang="en-US" dirty="0"/>
              <a:t>();</a:t>
            </a:r>
          </a:p>
          <a:p>
            <a:r>
              <a:rPr lang="en-US" dirty="0"/>
              <a:t>  } else {</a:t>
            </a:r>
          </a:p>
          <a:p>
            <a:r>
              <a:rPr lang="en-US" dirty="0"/>
              <a:t>    // se o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corretamente</a:t>
            </a:r>
            <a:r>
              <a:rPr lang="en-US" dirty="0"/>
              <a:t> </a:t>
            </a:r>
            <a:r>
              <a:rPr lang="en-US" dirty="0" err="1"/>
              <a:t>aberto</a:t>
            </a:r>
            <a:r>
              <a:rPr lang="en-US" dirty="0"/>
              <a:t>, </a:t>
            </a:r>
            <a:r>
              <a:rPr lang="en-US" dirty="0" err="1"/>
              <a:t>escreve</a:t>
            </a:r>
            <a:r>
              <a:rPr lang="en-US" dirty="0"/>
              <a:t> a </a:t>
            </a:r>
            <a:r>
              <a:rPr lang="en-US" dirty="0" err="1"/>
              <a:t>mensagem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Erro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abrir</a:t>
            </a:r>
            <a:r>
              <a:rPr lang="en-US" dirty="0"/>
              <a:t> Text6.txt");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}   // </a:t>
            </a:r>
            <a:r>
              <a:rPr lang="en-US" dirty="0" err="1"/>
              <a:t>encerra</a:t>
            </a:r>
            <a:r>
              <a:rPr lang="en-US" dirty="0"/>
              <a:t> o setup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void loop(void) {               // o </a:t>
            </a:r>
            <a:r>
              <a:rPr lang="en-US" dirty="0" err="1"/>
              <a:t>laço</a:t>
            </a:r>
            <a:r>
              <a:rPr lang="en-US" dirty="0"/>
              <a:t> principal </a:t>
            </a:r>
            <a:r>
              <a:rPr lang="en-US" dirty="0" err="1"/>
              <a:t>realiza</a:t>
            </a:r>
            <a:r>
              <a:rPr lang="en-US" dirty="0"/>
              <a:t> as </a:t>
            </a:r>
            <a:r>
              <a:rPr lang="en-US" dirty="0" err="1"/>
              <a:t>leituras</a:t>
            </a:r>
            <a:r>
              <a:rPr lang="en-US" dirty="0"/>
              <a:t> </a:t>
            </a:r>
            <a:r>
              <a:rPr lang="en-US" dirty="0" err="1"/>
              <a:t>analógicas</a:t>
            </a:r>
            <a:r>
              <a:rPr lang="en-US" dirty="0"/>
              <a:t> e as </a:t>
            </a:r>
            <a:r>
              <a:rPr lang="en-US" dirty="0" err="1"/>
              <a:t>escreve</a:t>
            </a:r>
            <a:r>
              <a:rPr lang="en-US" dirty="0"/>
              <a:t> </a:t>
            </a:r>
            <a:r>
              <a:rPr lang="en-US" dirty="0" err="1"/>
              <a:t>somente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serial</a:t>
            </a:r>
          </a:p>
          <a:p>
            <a:r>
              <a:rPr lang="en-US" dirty="0"/>
              <a:t>      </a:t>
            </a:r>
            <a:r>
              <a:rPr lang="en-US" dirty="0" err="1"/>
              <a:t>leitura</a:t>
            </a:r>
            <a:r>
              <a:rPr lang="en-US" dirty="0"/>
              <a:t>=</a:t>
            </a:r>
            <a:r>
              <a:rPr lang="en-US" dirty="0" err="1"/>
              <a:t>analogRead</a:t>
            </a:r>
            <a:r>
              <a:rPr lang="en-US" dirty="0"/>
              <a:t>(A0);</a:t>
            </a:r>
          </a:p>
          <a:p>
            <a:r>
              <a:rPr lang="en-US" dirty="0"/>
              <a:t>      </a:t>
            </a:r>
            <a:r>
              <a:rPr lang="en-US" dirty="0" err="1"/>
              <a:t>Serial.println</a:t>
            </a:r>
            <a:r>
              <a:rPr lang="en-US" dirty="0"/>
              <a:t>(</a:t>
            </a:r>
            <a:r>
              <a:rPr lang="en-US" dirty="0" err="1"/>
              <a:t>leitura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715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TESTE DO </a:t>
            </a:r>
            <a:r>
              <a:rPr lang="pt-BR" dirty="0">
                <a:sym typeface="Wingdings" panose="05000000000000000000" pitchFamily="2" charset="2"/>
              </a:rPr>
              <a:t>ARDUINO COM CARTÃO SD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726" y="1479884"/>
            <a:ext cx="319396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Lista os dados do cartão,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Lista os arquivos presentes,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Escreve  dados em determinado arquivo,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Logo a seguir os lê.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16D820-D528-4163-A391-88920ED8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41" y="1889835"/>
            <a:ext cx="8219864" cy="307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TESTE DO </a:t>
            </a:r>
            <a:r>
              <a:rPr lang="pt-BR" dirty="0">
                <a:sym typeface="Wingdings" panose="05000000000000000000" pitchFamily="2" charset="2"/>
              </a:rPr>
              <a:t>ARDUINO COM CARTÃO SD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725" y="1197141"/>
            <a:ext cx="5933409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Após gravar os dados é possível abrir o arquivo formatado que se passa pelo cartão SD com outro aplicativo (por exemplo o </a:t>
            </a:r>
            <a:r>
              <a:rPr lang="pt-BR" sz="2400" dirty="0" err="1">
                <a:solidFill>
                  <a:schemeClr val="bg1"/>
                </a:solidFill>
              </a:rPr>
              <a:t>WinImage</a:t>
            </a:r>
            <a:r>
              <a:rPr lang="pt-BR" sz="2400" dirty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FC3D23-ED9B-449B-8344-D8B2BB3483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91" t="27895" r="38224" b="28596"/>
          <a:stretch/>
        </p:blipFill>
        <p:spPr>
          <a:xfrm>
            <a:off x="2739023" y="2947737"/>
            <a:ext cx="3585577" cy="37206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51CD1E0-FF48-4E3A-AE67-1DC6B083A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927" y="1130270"/>
            <a:ext cx="5181348" cy="55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2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457199"/>
            <a:ext cx="8644273" cy="613611"/>
          </a:xfrm>
        </p:spPr>
        <p:txBody>
          <a:bodyPr>
            <a:normAutofit/>
          </a:bodyPr>
          <a:lstStyle/>
          <a:p>
            <a:r>
              <a:rPr lang="pt-BR" dirty="0"/>
              <a:t>TESTE DO </a:t>
            </a:r>
            <a:r>
              <a:rPr lang="pt-BR" dirty="0">
                <a:sym typeface="Wingdings" panose="05000000000000000000" pitchFamily="2" charset="2"/>
              </a:rPr>
              <a:t>ARDUINO COM CARTÃO SD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725" y="1197141"/>
            <a:ext cx="8511927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Após gravar os dados é possível abrir o arquivo formatado que se passa pelo cartão SD com outro aplicativo e avaliar os dados em Excel.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F43E1E-BE30-4E12-9FA6-A8B3E5313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61" y="2466474"/>
            <a:ext cx="9185285" cy="41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15041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1216</TotalTime>
  <Words>1317</Words>
  <Application>Microsoft Office PowerPoint</Application>
  <PresentationFormat>Widescreen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Fatia</vt:lpstr>
      <vt:lpstr>Sistemas embarcados aplicados I – Acesso a cartão de memória (SD CARD)</vt:lpstr>
      <vt:lpstr>Montagem ARDUINO:</vt:lpstr>
      <vt:lpstr>Montagem ARDUINO:</vt:lpstr>
      <vt:lpstr>SOFTWARE ARDUINO:</vt:lpstr>
      <vt:lpstr>SOFTWARE ARDUINO:</vt:lpstr>
      <vt:lpstr>SOFTWARE ARDUINO:</vt:lpstr>
      <vt:lpstr>SOFTWARE ARDUINO:</vt:lpstr>
      <vt:lpstr>SOFTWARE ARDUINO:</vt:lpstr>
      <vt:lpstr>SOFTWARE ARDUINO:</vt:lpstr>
      <vt:lpstr>TESTE DO ARDUINO COM CARTÃO SD:</vt:lpstr>
      <vt:lpstr>TESTE DO ARDUINO COM CARTÃO SD:</vt:lpstr>
      <vt:lpstr>TESTE DO ARDUINO COM CARTÃO SD: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embarcados aplicados I</dc:title>
  <dc:creator>dalton vidor</dc:creator>
  <cp:lastModifiedBy>dalton vidor</cp:lastModifiedBy>
  <cp:revision>90</cp:revision>
  <dcterms:created xsi:type="dcterms:W3CDTF">2020-08-03T18:55:45Z</dcterms:created>
  <dcterms:modified xsi:type="dcterms:W3CDTF">2020-09-13T06:43:18Z</dcterms:modified>
</cp:coreProperties>
</file>