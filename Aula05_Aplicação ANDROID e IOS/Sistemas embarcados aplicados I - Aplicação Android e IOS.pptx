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7" r:id="rId3"/>
    <p:sldId id="288" r:id="rId4"/>
    <p:sldId id="289" r:id="rId5"/>
    <p:sldId id="290" r:id="rId6"/>
    <p:sldId id="292" r:id="rId7"/>
    <p:sldId id="291" r:id="rId8"/>
    <p:sldId id="293" r:id="rId9"/>
    <p:sldId id="295" r:id="rId10"/>
    <p:sldId id="294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ppinventor.mit.edu/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hunkable.com/#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E6338-4DCD-43E8-B1DD-477C83B22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914231" cy="2971801"/>
          </a:xfrm>
        </p:spPr>
        <p:txBody>
          <a:bodyPr/>
          <a:lstStyle/>
          <a:p>
            <a:r>
              <a:rPr lang="pt-BR" dirty="0"/>
              <a:t>Sistemas embarcados aplicados I – App Android e IOS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975DF8-A7C0-4669-8A93-599AB542F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Prof. Dr. Dalton Vidor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18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4890421" cy="1209174"/>
          </a:xfrm>
        </p:spPr>
        <p:txBody>
          <a:bodyPr>
            <a:normAutofit/>
          </a:bodyPr>
          <a:lstStyle/>
          <a:p>
            <a:r>
              <a:rPr lang="pt-BR" dirty="0"/>
              <a:t>Softwares e sites: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23284" y="613611"/>
            <a:ext cx="5530516" cy="10587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https://appinventor.mit.edu/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Somente</a:t>
            </a:r>
            <a:r>
              <a:rPr lang="en-US" sz="2400" dirty="0">
                <a:solidFill>
                  <a:srgbClr val="FF0000"/>
                </a:solidFill>
              </a:rPr>
              <a:t> Android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E44CCB-F59C-4A14-B296-0A53A2336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63" y="1949116"/>
            <a:ext cx="10030447" cy="44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4890421" cy="1209174"/>
          </a:xfrm>
        </p:spPr>
        <p:txBody>
          <a:bodyPr>
            <a:normAutofit/>
          </a:bodyPr>
          <a:lstStyle/>
          <a:p>
            <a:r>
              <a:rPr lang="pt-BR" dirty="0"/>
              <a:t>Softwares e sites: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23284" y="613611"/>
            <a:ext cx="5530516" cy="10587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https://thunkable.com/#/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Android e 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FCB239B-ADAF-4D4A-8D7C-17DE96A0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95" y="1849772"/>
            <a:ext cx="7286374" cy="439461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363DCB2-B7C3-4903-B633-9CD74AB1C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697" y="1865855"/>
            <a:ext cx="3476625" cy="4362450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6D783E4C-DB33-4750-8BA1-B2AFEC8F6D0E}"/>
              </a:ext>
            </a:extLst>
          </p:cNvPr>
          <p:cNvSpPr/>
          <p:nvPr/>
        </p:nvSpPr>
        <p:spPr>
          <a:xfrm>
            <a:off x="10864516" y="3597442"/>
            <a:ext cx="611189" cy="64970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4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4890421" cy="1209174"/>
          </a:xfrm>
        </p:spPr>
        <p:txBody>
          <a:bodyPr>
            <a:normAutofit/>
          </a:bodyPr>
          <a:lstStyle/>
          <a:p>
            <a:r>
              <a:rPr lang="pt-BR" dirty="0"/>
              <a:t>Softwares e sites: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44979" y="613611"/>
            <a:ext cx="6894095" cy="10587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https://developer.android.com/studio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Android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A76176-6B23-4ABB-9AC8-C01E746B1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31" y="1882124"/>
            <a:ext cx="10160253" cy="463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8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4890421" cy="1209174"/>
          </a:xfrm>
        </p:spPr>
        <p:txBody>
          <a:bodyPr>
            <a:normAutofit/>
          </a:bodyPr>
          <a:lstStyle/>
          <a:p>
            <a:r>
              <a:rPr lang="pt-BR" dirty="0"/>
              <a:t>Softwares e sites: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888959"/>
            <a:ext cx="6894095" cy="451184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Xamarin </a:t>
            </a:r>
            <a:r>
              <a:rPr lang="en-US" sz="2400" dirty="0">
                <a:sym typeface="Wingdings" panose="05000000000000000000" pitchFamily="2" charset="2"/>
              </a:rPr>
              <a:t> Android, IOS e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Xcode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Swift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IOS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Outros</a:t>
            </a:r>
          </a:p>
        </p:txBody>
      </p:sp>
    </p:spTree>
    <p:extLst>
      <p:ext uri="{BB962C8B-B14F-4D97-AF65-F5344CB8AC3E}">
        <p14:creationId xmlns:p14="http://schemas.microsoft.com/office/powerpoint/2010/main" val="306862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888959"/>
            <a:ext cx="6894095" cy="451184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Front-End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telas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do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usuário</a:t>
            </a:r>
            <a:endParaRPr 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O visual do Front-End é o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cartão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visitas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do App com o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usuário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Telas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bonitas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, com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harmonia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de cores,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tamanhos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formas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fáceis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navegar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auxiliam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na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boa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receptividade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utilização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Back-End 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programa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executa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funções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sem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que o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usuário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tenha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 a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visualização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O App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deve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funcionar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conforme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indicado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(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aplicação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),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sem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travar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sem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problemas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(bugs) que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prejudiquem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 a </a:t>
            </a:r>
            <a:r>
              <a:rPr lang="en-US" sz="1800" dirty="0" err="1">
                <a:solidFill>
                  <a:schemeClr val="bg1"/>
                </a:solidFill>
                <a:sym typeface="Wingdings" panose="05000000000000000000" pitchFamily="2" charset="2"/>
              </a:rPr>
              <a:t>funcionalidade</a:t>
            </a:r>
            <a:r>
              <a:rPr lang="en-US" sz="1800" dirty="0">
                <a:solidFill>
                  <a:schemeClr val="bg1"/>
                </a:solidFill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67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6894095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</a:t>
            </a:r>
          </a:p>
          <a:p>
            <a:r>
              <a:rPr lang="en-US" dirty="0">
                <a:solidFill>
                  <a:srgbClr val="FF0000"/>
                </a:solidFill>
              </a:rPr>
              <a:t>          screen1                 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61E985-8B42-4E0F-8701-88ACA594F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1" y="1607319"/>
            <a:ext cx="4136442" cy="50506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3CFEE7-5715-41E7-9BB1-8ADDD836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26" y="2598853"/>
            <a:ext cx="2122548" cy="356610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80" y="2570279"/>
            <a:ext cx="2242135" cy="40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9991810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Front-End </a:t>
            </a:r>
            <a:endParaRPr lang="en-US" sz="2400" dirty="0"/>
          </a:p>
          <a:p>
            <a:r>
              <a:rPr lang="en-US" dirty="0">
                <a:solidFill>
                  <a:srgbClr val="FF0000"/>
                </a:solidFill>
              </a:rPr>
              <a:t>          screen1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3CFEE7-5715-41E7-9BB1-8ADDD8369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6" y="2598853"/>
            <a:ext cx="2122548" cy="3566109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B5AADD9-2212-41A7-84F9-BCD450A09887}"/>
              </a:ext>
            </a:extLst>
          </p:cNvPr>
          <p:cNvCxnSpPr>
            <a:cxnSpLocks/>
          </p:cNvCxnSpPr>
          <p:nvPr/>
        </p:nvCxnSpPr>
        <p:spPr>
          <a:xfrm flipV="1">
            <a:off x="2875547" y="3525253"/>
            <a:ext cx="1503948" cy="31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013FF2B-5AE0-41C0-92B6-CC564A86CE2E}"/>
              </a:ext>
            </a:extLst>
          </p:cNvPr>
          <p:cNvCxnSpPr/>
          <p:nvPr/>
        </p:nvCxnSpPr>
        <p:spPr>
          <a:xfrm flipV="1">
            <a:off x="3862137" y="3176337"/>
            <a:ext cx="2021305" cy="1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BFD1615-1AE8-4675-B941-6F6972B1AD6F}"/>
              </a:ext>
            </a:extLst>
          </p:cNvPr>
          <p:cNvSpPr txBox="1"/>
          <p:nvPr/>
        </p:nvSpPr>
        <p:spPr>
          <a:xfrm>
            <a:off x="3799150" y="3838074"/>
            <a:ext cx="4199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Label</a:t>
            </a:r>
            <a:r>
              <a:rPr lang="pt-BR" dirty="0"/>
              <a:t> – Título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Label</a:t>
            </a:r>
            <a:r>
              <a:rPr lang="pt-BR" dirty="0"/>
              <a:t> – Disciplina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Image</a:t>
            </a:r>
            <a:r>
              <a:rPr lang="pt-BR" dirty="0"/>
              <a:t> – Logo da Ulbra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Button – 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Bluethoot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9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9991810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Back-End </a:t>
            </a:r>
            <a:endParaRPr lang="en-US" sz="2400" dirty="0"/>
          </a:p>
          <a:p>
            <a:r>
              <a:rPr lang="en-US" dirty="0">
                <a:solidFill>
                  <a:srgbClr val="FF0000"/>
                </a:solidFill>
              </a:rPr>
              <a:t>          screen1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3CFEE7-5715-41E7-9BB1-8ADDD8369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6" y="2598853"/>
            <a:ext cx="2122548" cy="3566109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B5AADD9-2212-41A7-84F9-BCD450A09887}"/>
              </a:ext>
            </a:extLst>
          </p:cNvPr>
          <p:cNvCxnSpPr>
            <a:cxnSpLocks/>
          </p:cNvCxnSpPr>
          <p:nvPr/>
        </p:nvCxnSpPr>
        <p:spPr>
          <a:xfrm flipV="1">
            <a:off x="2875547" y="3525253"/>
            <a:ext cx="1503948" cy="31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013FF2B-5AE0-41C0-92B6-CC564A86CE2E}"/>
              </a:ext>
            </a:extLst>
          </p:cNvPr>
          <p:cNvCxnSpPr/>
          <p:nvPr/>
        </p:nvCxnSpPr>
        <p:spPr>
          <a:xfrm flipV="1">
            <a:off x="3862137" y="3176337"/>
            <a:ext cx="2021305" cy="1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BFD1615-1AE8-4675-B941-6F6972B1AD6F}"/>
              </a:ext>
            </a:extLst>
          </p:cNvPr>
          <p:cNvSpPr txBox="1"/>
          <p:nvPr/>
        </p:nvSpPr>
        <p:spPr>
          <a:xfrm>
            <a:off x="3474298" y="4164309"/>
            <a:ext cx="6367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Mostra a tela inicial e a tecla abre a outra tela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Os Apps sempre tem a tela “screen1” que é a tela padrão de </a:t>
            </a:r>
            <a:r>
              <a:rPr lang="pt-BR" dirty="0" err="1"/>
              <a:t>entgrada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2E8E08-2281-4600-A5D7-B2761B46E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091" y="2431793"/>
            <a:ext cx="57435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2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10618952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Front-End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3" y="2504104"/>
            <a:ext cx="2242135" cy="40109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70C5EB-AE5B-4191-B515-2AC5E73FC2BA}"/>
              </a:ext>
            </a:extLst>
          </p:cNvPr>
          <p:cNvSpPr txBox="1"/>
          <p:nvPr/>
        </p:nvSpPr>
        <p:spPr>
          <a:xfrm>
            <a:off x="3525253" y="2911642"/>
            <a:ext cx="79504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HorizontalArrangement</a:t>
            </a:r>
            <a:r>
              <a:rPr lang="pt-BR" dirty="0"/>
              <a:t> – caixa onde fica a imagem </a:t>
            </a:r>
            <a:r>
              <a:rPr lang="pt-BR" dirty="0" err="1"/>
              <a:t>Bluethoot</a:t>
            </a:r>
            <a:endParaRPr lang="pt-BR" dirty="0"/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Imagem </a:t>
            </a:r>
            <a:r>
              <a:rPr lang="pt-BR" dirty="0" err="1"/>
              <a:t>Bluethoot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HorizontalArrangement</a:t>
            </a:r>
            <a:r>
              <a:rPr lang="pt-BR" dirty="0"/>
              <a:t> – caixa onde ficam os botões de escolha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 err="1"/>
              <a:t>ListPicker</a:t>
            </a:r>
            <a:r>
              <a:rPr lang="pt-BR" dirty="0"/>
              <a:t> – com o texto de conectar, mas lista as conexões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Button – Botão desconectar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Button – Botão com imagem para abrir reconhecimento de voz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TableArrangement</a:t>
            </a:r>
            <a:r>
              <a:rPr lang="pt-BR" dirty="0"/>
              <a:t> – Para organizar os 4 botões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SpeechRecognizer</a:t>
            </a:r>
            <a:r>
              <a:rPr lang="pt-BR" dirty="0"/>
              <a:t> – para reconhecimento de voz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BluethootCliente</a:t>
            </a:r>
            <a:r>
              <a:rPr lang="pt-BR" dirty="0"/>
              <a:t> – para realizar a conexão </a:t>
            </a:r>
            <a:r>
              <a:rPr lang="pt-BR" dirty="0" err="1"/>
              <a:t>bluethoot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TextToSpeech</a:t>
            </a:r>
            <a:r>
              <a:rPr lang="pt-BR" dirty="0"/>
              <a:t> – para ler/verbalizar os textos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Clock</a:t>
            </a:r>
            <a:r>
              <a:rPr lang="pt-BR" dirty="0"/>
              <a:t> – para dar um tempo antes de observar </a:t>
            </a:r>
            <a:r>
              <a:rPr lang="pt-BR" dirty="0" err="1"/>
              <a:t>bluethoot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9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10618952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Back-End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3" y="2504104"/>
            <a:ext cx="2242135" cy="40109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70C5EB-AE5B-4191-B515-2AC5E73FC2BA}"/>
              </a:ext>
            </a:extLst>
          </p:cNvPr>
          <p:cNvSpPr txBox="1"/>
          <p:nvPr/>
        </p:nvSpPr>
        <p:spPr>
          <a:xfrm>
            <a:off x="3384795" y="4509602"/>
            <a:ext cx="7950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ListPicker</a:t>
            </a:r>
            <a:r>
              <a:rPr lang="pt-BR" dirty="0"/>
              <a:t> é a tecla “Conectar”.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BeforePicking</a:t>
            </a:r>
            <a:r>
              <a:rPr lang="pt-BR" dirty="0"/>
              <a:t> – antes de selecionar – faz com que os elementos da lista de seleção sejam os endereços </a:t>
            </a:r>
            <a:r>
              <a:rPr lang="pt-BR" dirty="0" err="1"/>
              <a:t>Bluethoot</a:t>
            </a:r>
            <a:r>
              <a:rPr lang="pt-BR" dirty="0"/>
              <a:t> percebidos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AfterPicking</a:t>
            </a:r>
            <a:r>
              <a:rPr lang="pt-BR" dirty="0"/>
              <a:t> – depois de selecionar – faz com que o dispositivo se conecte ao endereço selecionado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Ao “clicar” no botão “Desconectar” – Desconecta o </a:t>
            </a:r>
            <a:r>
              <a:rPr lang="pt-BR" dirty="0" err="1"/>
              <a:t>bluethoot</a:t>
            </a:r>
            <a:r>
              <a:rPr lang="pt-BR" dirty="0"/>
              <a:t> e some com a linha que mostra o texto do reconhecimento de voz</a:t>
            </a: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67BBB2-386C-485F-8E12-8CE89FC87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795" y="2487368"/>
            <a:ext cx="7950452" cy="177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0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10618952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Back-End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3" y="2504104"/>
            <a:ext cx="2242135" cy="40109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70C5EB-AE5B-4191-B515-2AC5E73FC2BA}"/>
              </a:ext>
            </a:extLst>
          </p:cNvPr>
          <p:cNvSpPr txBox="1"/>
          <p:nvPr/>
        </p:nvSpPr>
        <p:spPr>
          <a:xfrm>
            <a:off x="3384795" y="4293033"/>
            <a:ext cx="79504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Ao “clicar” no botão com a figura de um microfone – Abre o reconhecimento de voz para capturar a fala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BeforeGettingText</a:t>
            </a:r>
            <a:r>
              <a:rPr lang="pt-BR" dirty="0"/>
              <a:t> – antes de capturar a fala, limpa as informações anteriores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AfterGettingText</a:t>
            </a:r>
            <a:r>
              <a:rPr lang="pt-BR" dirty="0"/>
              <a:t> – depois de capturar a fala, envia o texto capturado adicionado ao caractere de terminação (;) ao </a:t>
            </a:r>
            <a:r>
              <a:rPr lang="pt-BR" dirty="0" err="1"/>
              <a:t>bluethoot</a:t>
            </a:r>
            <a:r>
              <a:rPr lang="pt-BR" dirty="0"/>
              <a:t> e o texto “comando de voz enviado” ao leitor de texto e ainda habilita o visualizador de texto capturado. </a:t>
            </a:r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9104507-5F78-4490-A03C-4E00DF302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541" y="2348398"/>
            <a:ext cx="6699334" cy="179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2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10618952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Back-End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3" y="2504104"/>
            <a:ext cx="2242135" cy="40109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70C5EB-AE5B-4191-B515-2AC5E73FC2BA}"/>
              </a:ext>
            </a:extLst>
          </p:cNvPr>
          <p:cNvSpPr txBox="1"/>
          <p:nvPr/>
        </p:nvSpPr>
        <p:spPr>
          <a:xfrm>
            <a:off x="3384795" y="4714138"/>
            <a:ext cx="7950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Ao “clicar” em qualquer uma das 4 teclas – envia ao </a:t>
            </a:r>
            <a:r>
              <a:rPr lang="pt-BR" dirty="0" err="1"/>
              <a:t>bluethoot</a:t>
            </a:r>
            <a:r>
              <a:rPr lang="pt-BR" dirty="0"/>
              <a:t> o respectivo comando adicionado do caractere terminador (;) e envia um texto a ser verbalizado para o dispositivo de fala.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Além disso, habilita o </a:t>
            </a:r>
            <a:r>
              <a:rPr lang="pt-BR" dirty="0" err="1"/>
              <a:t>clock</a:t>
            </a:r>
            <a:r>
              <a:rPr lang="pt-BR" dirty="0"/>
              <a:t> (relógio) que espera um tempo para receber os dados pelo </a:t>
            </a:r>
            <a:r>
              <a:rPr lang="pt-BR" dirty="0" err="1"/>
              <a:t>bluethoot</a:t>
            </a: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1B823E-6514-4868-8FE2-28075B95E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796" y="2301846"/>
            <a:ext cx="7154868" cy="232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63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INVENTOR MIT 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552075"/>
            <a:ext cx="10618952" cy="48487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Desenvolvido</a:t>
            </a:r>
            <a:r>
              <a:rPr lang="en-US" sz="2400" dirty="0"/>
              <a:t> no MIT APP INVENTOR </a:t>
            </a:r>
            <a:r>
              <a:rPr lang="en-US" sz="2400" dirty="0">
                <a:sym typeface="Wingdings" panose="05000000000000000000" pitchFamily="2" charset="2"/>
              </a:rPr>
              <a:t> Back-End </a:t>
            </a:r>
            <a:r>
              <a:rPr lang="pt-BR" dirty="0" err="1">
                <a:solidFill>
                  <a:srgbClr val="FF0000"/>
                </a:solidFill>
              </a:rPr>
              <a:t>Comando_por_Voz_via_Bluethoot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2B5BE-FC95-4FAA-8D66-DEADE98E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3" y="2504104"/>
            <a:ext cx="2242135" cy="40109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70C5EB-AE5B-4191-B515-2AC5E73FC2BA}"/>
              </a:ext>
            </a:extLst>
          </p:cNvPr>
          <p:cNvSpPr txBox="1"/>
          <p:nvPr/>
        </p:nvSpPr>
        <p:spPr>
          <a:xfrm>
            <a:off x="3384795" y="4714138"/>
            <a:ext cx="7950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Após o tempo de espera do </a:t>
            </a:r>
            <a:r>
              <a:rPr lang="pt-BR" dirty="0" err="1"/>
              <a:t>clock</a:t>
            </a:r>
            <a:r>
              <a:rPr lang="pt-BR" dirty="0"/>
              <a:t> ainda testa se chegaram mais de 15 caracteres. As mensagens tem mais de 15 caracteres então se espera ao menos 15 para depois encaminhá-las ao </a:t>
            </a:r>
            <a:r>
              <a:rPr lang="pt-BR" dirty="0" err="1"/>
              <a:t>verbalizador</a:t>
            </a:r>
            <a:r>
              <a:rPr lang="pt-BR" dirty="0"/>
              <a:t> de texto.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Após verbalizar, desliga o </a:t>
            </a:r>
            <a:r>
              <a:rPr lang="pt-BR" dirty="0" err="1"/>
              <a:t>clock</a:t>
            </a:r>
            <a:r>
              <a:rPr lang="pt-BR" dirty="0"/>
              <a:t> para não repetir as mensagens</a:t>
            </a:r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FE4389-CF89-4487-9454-5D218420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53" y="2406930"/>
            <a:ext cx="7950452" cy="16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14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3104147"/>
            <a:ext cx="5212388" cy="329665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ircuito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chemeClr val="bg1"/>
                </a:solidFill>
              </a:rPr>
              <a:t>Conexão</a:t>
            </a:r>
            <a:r>
              <a:rPr lang="en-US" sz="2400" dirty="0">
                <a:solidFill>
                  <a:schemeClr val="bg1"/>
                </a:solidFill>
              </a:rPr>
              <a:t> do HC-05 – </a:t>
            </a:r>
            <a:r>
              <a:rPr lang="en-US" sz="2400" dirty="0" err="1">
                <a:solidFill>
                  <a:schemeClr val="bg1"/>
                </a:solidFill>
              </a:rPr>
              <a:t>conversor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Bluethoot</a:t>
            </a:r>
            <a:r>
              <a:rPr lang="en-US" sz="2400" dirty="0">
                <a:solidFill>
                  <a:schemeClr val="bg1"/>
                </a:solidFill>
              </a:rPr>
              <a:t> para serial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CCE9E2-F37B-47B7-A8C0-8989A4A9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318" y="947487"/>
            <a:ext cx="5071929" cy="535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0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ARDUINO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937084"/>
            <a:ext cx="521238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ircuito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chemeClr val="bg1"/>
                </a:solidFill>
              </a:rPr>
              <a:t>Opção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realizada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utilizar</a:t>
            </a:r>
            <a:r>
              <a:rPr lang="en-US" sz="2400" dirty="0">
                <a:solidFill>
                  <a:schemeClr val="bg1"/>
                </a:solidFill>
              </a:rPr>
              <a:t> o </a:t>
            </a:r>
            <a:r>
              <a:rPr lang="en-US" sz="2400" dirty="0" err="1">
                <a:solidFill>
                  <a:schemeClr val="bg1"/>
                </a:solidFill>
              </a:rPr>
              <a:t>computador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dispositivo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saída</a:t>
            </a:r>
            <a:r>
              <a:rPr lang="en-US" sz="2400" dirty="0">
                <a:solidFill>
                  <a:schemeClr val="bg1"/>
                </a:solidFill>
              </a:rPr>
              <a:t> (HOST </a:t>
            </a:r>
            <a:r>
              <a:rPr lang="en-US" sz="2400" dirty="0" err="1">
                <a:solidFill>
                  <a:schemeClr val="bg1"/>
                </a:solidFill>
              </a:rPr>
              <a:t>ou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hospedeiro</a:t>
            </a:r>
            <a:r>
              <a:rPr lang="en-US" sz="2400" dirty="0">
                <a:solidFill>
                  <a:schemeClr val="bg1"/>
                </a:solidFill>
              </a:rPr>
              <a:t> – o </a:t>
            </a:r>
            <a:r>
              <a:rPr lang="en-US" sz="2400" dirty="0" err="1">
                <a:solidFill>
                  <a:schemeClr val="bg1"/>
                </a:solidFill>
              </a:rPr>
              <a:t>dispositivo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mestre</a:t>
            </a:r>
            <a:r>
              <a:rPr lang="en-US" sz="2400" dirty="0">
                <a:solidFill>
                  <a:schemeClr val="bg1"/>
                </a:solidFill>
              </a:rPr>
              <a:t> que </a:t>
            </a:r>
            <a:r>
              <a:rPr lang="en-US" sz="2400" dirty="0" err="1">
                <a:solidFill>
                  <a:schemeClr val="bg1"/>
                </a:solidFill>
              </a:rPr>
              <a:t>reconhece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os</a:t>
            </a:r>
            <a:r>
              <a:rPr lang="en-US" sz="2400" dirty="0">
                <a:solidFill>
                  <a:schemeClr val="bg1"/>
                </a:solidFill>
              </a:rPr>
              <a:t> outros </a:t>
            </a:r>
            <a:r>
              <a:rPr lang="en-US" sz="2400" dirty="0" err="1">
                <a:solidFill>
                  <a:schemeClr val="bg1"/>
                </a:solidFill>
              </a:rPr>
              <a:t>quando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estes</a:t>
            </a:r>
            <a:r>
              <a:rPr lang="en-US" sz="2400" dirty="0">
                <a:solidFill>
                  <a:schemeClr val="bg1"/>
                </a:solidFill>
              </a:rPr>
              <a:t> se </a:t>
            </a:r>
            <a:r>
              <a:rPr lang="en-US" sz="2400" dirty="0" err="1">
                <a:solidFill>
                  <a:schemeClr val="bg1"/>
                </a:solidFill>
              </a:rPr>
              <a:t>conectam</a:t>
            </a:r>
            <a:r>
              <a:rPr lang="en-US" sz="2400" dirty="0">
                <a:solidFill>
                  <a:schemeClr val="bg1"/>
                </a:solidFill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Leds</a:t>
            </a:r>
            <a:r>
              <a:rPr lang="en-US" sz="2400" dirty="0">
                <a:solidFill>
                  <a:schemeClr val="bg1"/>
                </a:solidFill>
              </a:rPr>
              <a:t> que </a:t>
            </a:r>
            <a:r>
              <a:rPr lang="en-US" sz="2400" dirty="0" err="1">
                <a:solidFill>
                  <a:schemeClr val="bg1"/>
                </a:solidFill>
              </a:rPr>
              <a:t>são</a:t>
            </a:r>
            <a:r>
              <a:rPr lang="en-US" sz="2400" dirty="0">
                <a:solidFill>
                  <a:schemeClr val="bg1"/>
                </a:solidFill>
              </a:rPr>
              <a:t> as </a:t>
            </a:r>
            <a:r>
              <a:rPr lang="en-US" sz="2400" dirty="0" err="1">
                <a:solidFill>
                  <a:schemeClr val="bg1"/>
                </a:solidFill>
              </a:rPr>
              <a:t>duas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saídas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Monitores</a:t>
            </a:r>
            <a:r>
              <a:rPr lang="en-US" sz="2400" dirty="0">
                <a:solidFill>
                  <a:schemeClr val="bg1"/>
                </a:solidFill>
              </a:rPr>
              <a:t> da entrada e </a:t>
            </a:r>
            <a:r>
              <a:rPr lang="en-US" sz="2400" dirty="0" err="1">
                <a:solidFill>
                  <a:schemeClr val="bg1"/>
                </a:solidFill>
              </a:rPr>
              <a:t>saída</a:t>
            </a:r>
            <a:r>
              <a:rPr lang="en-US" sz="2400" dirty="0">
                <a:solidFill>
                  <a:schemeClr val="bg1"/>
                </a:solidFill>
              </a:rPr>
              <a:t> serial para </a:t>
            </a:r>
            <a:r>
              <a:rPr lang="en-US" sz="2400" dirty="0" err="1">
                <a:solidFill>
                  <a:schemeClr val="bg1"/>
                </a:solidFill>
              </a:rPr>
              <a:t>avaliar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caracteres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trocados</a:t>
            </a:r>
            <a:r>
              <a:rPr lang="en-US" sz="2400" dirty="0">
                <a:solidFill>
                  <a:schemeClr val="bg1"/>
                </a:solidFill>
              </a:rPr>
              <a:t> entre </a:t>
            </a:r>
            <a:r>
              <a:rPr lang="en-US" sz="2400" dirty="0" err="1">
                <a:solidFill>
                  <a:schemeClr val="bg1"/>
                </a:solidFill>
              </a:rPr>
              <a:t>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dispositivos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E22AA9-5934-4119-87A6-2F71C5EB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56" y="1744580"/>
            <a:ext cx="6170609" cy="4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58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34290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ARDUINO  Código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937084"/>
            <a:ext cx="303755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Inicialização: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96167A-653A-45E3-8902-70D96621E1B1}"/>
              </a:ext>
            </a:extLst>
          </p:cNvPr>
          <p:cNvSpPr txBox="1"/>
          <p:nvPr/>
        </p:nvSpPr>
        <p:spPr>
          <a:xfrm>
            <a:off x="4593055" y="2195952"/>
            <a:ext cx="61060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Buffer para </a:t>
            </a:r>
            <a:r>
              <a:rPr lang="en-US" dirty="0" err="1"/>
              <a:t>armazenar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da porta serial e </a:t>
            </a: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 - Prof. Dr. Dalton Vidor</a:t>
            </a:r>
          </a:p>
          <a:p>
            <a:endParaRPr lang="en-US" dirty="0"/>
          </a:p>
          <a:p>
            <a:r>
              <a:rPr lang="en-US" dirty="0"/>
              <a:t># define S01  8</a:t>
            </a:r>
          </a:p>
          <a:p>
            <a:r>
              <a:rPr lang="en-US" dirty="0"/>
              <a:t># define S02  9</a:t>
            </a:r>
          </a:p>
          <a:p>
            <a:r>
              <a:rPr lang="en-US" dirty="0"/>
              <a:t>String </a:t>
            </a:r>
            <a:r>
              <a:rPr lang="en-US" dirty="0" err="1"/>
              <a:t>Palavra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    </a:t>
            </a:r>
            <a:r>
              <a:rPr lang="en-US" dirty="0" err="1"/>
              <a:t>Serial.begin</a:t>
            </a:r>
            <a:r>
              <a:rPr lang="en-US" dirty="0"/>
              <a:t>(9600);</a:t>
            </a:r>
          </a:p>
          <a:p>
            <a:r>
              <a:rPr lang="en-US" dirty="0"/>
              <a:t>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Bluethoot</a:t>
            </a:r>
            <a:r>
              <a:rPr lang="en-US" dirty="0"/>
              <a:t> </a:t>
            </a:r>
            <a:r>
              <a:rPr lang="en-US" dirty="0" err="1"/>
              <a:t>Conectado</a:t>
            </a:r>
            <a:r>
              <a:rPr lang="en-US" dirty="0"/>
              <a:t>");</a:t>
            </a:r>
          </a:p>
          <a:p>
            <a:r>
              <a:rPr lang="en-US" dirty="0"/>
              <a:t>    </a:t>
            </a:r>
            <a:r>
              <a:rPr lang="en-US" dirty="0" err="1"/>
              <a:t>pinMode</a:t>
            </a:r>
            <a:r>
              <a:rPr lang="en-US" dirty="0"/>
              <a:t>(S01, OUTPUT);  </a:t>
            </a:r>
          </a:p>
          <a:p>
            <a:r>
              <a:rPr lang="en-US" dirty="0"/>
              <a:t>    </a:t>
            </a:r>
            <a:r>
              <a:rPr lang="en-US" dirty="0" err="1"/>
              <a:t>pinMode</a:t>
            </a:r>
            <a:r>
              <a:rPr lang="en-US" dirty="0"/>
              <a:t>(S02, OUTPUT);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6751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ARDUINO  Código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6295" y="1937084"/>
            <a:ext cx="3037558" cy="44637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Agrupa caracteres enquanto não receber o caractere terminador (;).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D578F1-D058-464E-A7A6-8CFD52D3AC1D}"/>
              </a:ext>
            </a:extLst>
          </p:cNvPr>
          <p:cNvSpPr txBox="1"/>
          <p:nvPr/>
        </p:nvSpPr>
        <p:spPr>
          <a:xfrm>
            <a:off x="4415589" y="1677366"/>
            <a:ext cx="68700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loop() {</a:t>
            </a:r>
          </a:p>
          <a:p>
            <a:r>
              <a:rPr lang="en-US" dirty="0"/>
              <a:t>    while (</a:t>
            </a:r>
            <a:r>
              <a:rPr lang="en-US" dirty="0" err="1"/>
              <a:t>Serial.available</a:t>
            </a:r>
            <a:r>
              <a:rPr lang="en-US" dirty="0"/>
              <a:t>() &gt; 0)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char </a:t>
            </a:r>
            <a:r>
              <a:rPr lang="en-US" dirty="0" err="1"/>
              <a:t>char_recebido</a:t>
            </a:r>
            <a:r>
              <a:rPr lang="en-US" dirty="0"/>
              <a:t> = </a:t>
            </a:r>
            <a:r>
              <a:rPr lang="en-US" dirty="0" err="1"/>
              <a:t>Serial.read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if (</a:t>
            </a:r>
            <a:r>
              <a:rPr lang="en-US" dirty="0" err="1"/>
              <a:t>char_recebido</a:t>
            </a:r>
            <a:r>
              <a:rPr lang="en-US" dirty="0"/>
              <a:t> == ';’) {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********* </a:t>
            </a:r>
            <a:r>
              <a:rPr lang="en-US" dirty="0" err="1">
                <a:solidFill>
                  <a:srgbClr val="FF0000"/>
                </a:solidFill>
              </a:rPr>
              <a:t>aqui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mais</a:t>
            </a:r>
            <a:r>
              <a:rPr lang="en-US" dirty="0">
                <a:solidFill>
                  <a:srgbClr val="FF0000"/>
                </a:solidFill>
              </a:rPr>
              <a:t> Código do teste de </a:t>
            </a:r>
            <a:r>
              <a:rPr lang="en-US" dirty="0" err="1">
                <a:solidFill>
                  <a:srgbClr val="FF0000"/>
                </a:solidFill>
              </a:rPr>
              <a:t>palavras</a:t>
            </a:r>
            <a:r>
              <a:rPr lang="en-US" dirty="0">
                <a:solidFill>
                  <a:srgbClr val="FF0000"/>
                </a:solidFill>
              </a:rPr>
              <a:t> *****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Palavra</a:t>
            </a:r>
            <a:r>
              <a:rPr lang="en-US" dirty="0"/>
              <a:t> += </a:t>
            </a:r>
            <a:r>
              <a:rPr lang="en-US" dirty="0" err="1"/>
              <a:t>char_recebido</a:t>
            </a:r>
            <a:r>
              <a:rPr lang="en-US" dirty="0"/>
              <a:t>; </a:t>
            </a:r>
          </a:p>
          <a:p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char_recebido</a:t>
            </a:r>
            <a:r>
              <a:rPr lang="en-US" dirty="0"/>
              <a:t> == ';’)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     </a:t>
            </a:r>
            <a:r>
              <a:rPr lang="en-US" dirty="0" err="1"/>
              <a:t>Palavra</a:t>
            </a:r>
            <a:r>
              <a:rPr lang="en-US" dirty="0"/>
              <a:t> = "";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5477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ARDUINO  Código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3844" y="1792705"/>
            <a:ext cx="3037558" cy="4463717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Compara as palavras obtidas com as mensagens esperadas para comandar as saídas.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Comanda a saída se a mensagem confere.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Espera 5 segundos para a verbalização de outra mensagem no celular.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Envia mensagem a para verbalização da ação realizada.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4AB9C4-4FF0-4055-BA69-AC252928283A}"/>
              </a:ext>
            </a:extLst>
          </p:cNvPr>
          <p:cNvSpPr txBox="1"/>
          <p:nvPr/>
        </p:nvSpPr>
        <p:spPr>
          <a:xfrm>
            <a:off x="2831432" y="1208407"/>
            <a:ext cx="91520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	    if(</a:t>
            </a:r>
            <a:r>
              <a:rPr lang="en-US" dirty="0" err="1"/>
              <a:t>Palavra</a:t>
            </a:r>
            <a:r>
              <a:rPr lang="en-US" dirty="0"/>
              <a:t> == "</a:t>
            </a:r>
            <a:r>
              <a:rPr lang="en-US" dirty="0" err="1"/>
              <a:t>liga</a:t>
            </a:r>
            <a:r>
              <a:rPr lang="en-US" dirty="0"/>
              <a:t> 01"){                         // teste do </a:t>
            </a:r>
            <a:r>
              <a:rPr lang="en-US" dirty="0" err="1"/>
              <a:t>liga</a:t>
            </a:r>
            <a:r>
              <a:rPr lang="en-US" dirty="0"/>
              <a:t> 01</a:t>
            </a:r>
          </a:p>
          <a:p>
            <a:r>
              <a:rPr lang="en-US" dirty="0"/>
              <a:t>              </a:t>
            </a:r>
            <a:r>
              <a:rPr lang="en-US" dirty="0" err="1"/>
              <a:t>digitalWrite</a:t>
            </a:r>
            <a:r>
              <a:rPr lang="en-US" dirty="0"/>
              <a:t>(S01, HIGH);</a:t>
            </a:r>
          </a:p>
          <a:p>
            <a:r>
              <a:rPr lang="en-US" dirty="0"/>
              <a:t>              delay(5000);                                    // </a:t>
            </a:r>
            <a:r>
              <a:rPr lang="en-US" dirty="0" err="1"/>
              <a:t>espera</a:t>
            </a:r>
            <a:r>
              <a:rPr lang="en-US" dirty="0"/>
              <a:t> o </a:t>
            </a:r>
            <a:r>
              <a:rPr lang="en-US" dirty="0" err="1"/>
              <a:t>celular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que </a:t>
            </a:r>
            <a:r>
              <a:rPr lang="en-US" dirty="0" err="1"/>
              <a:t>enviou</a:t>
            </a:r>
            <a:endParaRPr lang="en-US" dirty="0"/>
          </a:p>
          <a:p>
            <a:r>
              <a:rPr lang="en-US" dirty="0"/>
              <a:t>          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liga</a:t>
            </a:r>
            <a:r>
              <a:rPr lang="en-US" dirty="0"/>
              <a:t> 01 </a:t>
            </a:r>
            <a:r>
              <a:rPr lang="en-US" dirty="0" err="1"/>
              <a:t>executado</a:t>
            </a:r>
            <a:r>
              <a:rPr lang="en-US" dirty="0"/>
              <a:t>");</a:t>
            </a:r>
          </a:p>
          <a:p>
            <a:r>
              <a:rPr lang="en-US" dirty="0"/>
              <a:t>            }   </a:t>
            </a:r>
          </a:p>
          <a:p>
            <a:r>
              <a:rPr lang="en-US" dirty="0"/>
              <a:t>            if(</a:t>
            </a:r>
            <a:r>
              <a:rPr lang="en-US" dirty="0" err="1"/>
              <a:t>Palavra</a:t>
            </a:r>
            <a:r>
              <a:rPr lang="en-US" dirty="0"/>
              <a:t> == "</a:t>
            </a:r>
            <a:r>
              <a:rPr lang="en-US" dirty="0" err="1"/>
              <a:t>desliga</a:t>
            </a:r>
            <a:r>
              <a:rPr lang="en-US" dirty="0"/>
              <a:t> 01"){                         // teste do </a:t>
            </a:r>
            <a:r>
              <a:rPr lang="en-US" dirty="0" err="1"/>
              <a:t>desliga</a:t>
            </a:r>
            <a:r>
              <a:rPr lang="en-US" dirty="0"/>
              <a:t> 01</a:t>
            </a:r>
          </a:p>
          <a:p>
            <a:r>
              <a:rPr lang="en-US" dirty="0"/>
              <a:t>              </a:t>
            </a:r>
            <a:r>
              <a:rPr lang="en-US" dirty="0" err="1"/>
              <a:t>digitalWrite</a:t>
            </a:r>
            <a:r>
              <a:rPr lang="en-US" dirty="0"/>
              <a:t>(S01, LOW);</a:t>
            </a:r>
          </a:p>
          <a:p>
            <a:r>
              <a:rPr lang="en-US" dirty="0"/>
              <a:t>              delay(5000);                                    // </a:t>
            </a:r>
            <a:r>
              <a:rPr lang="en-US" dirty="0" err="1"/>
              <a:t>espera</a:t>
            </a:r>
            <a:r>
              <a:rPr lang="en-US" dirty="0"/>
              <a:t> o </a:t>
            </a:r>
            <a:r>
              <a:rPr lang="en-US" dirty="0" err="1"/>
              <a:t>celular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que </a:t>
            </a:r>
            <a:r>
              <a:rPr lang="en-US" dirty="0" err="1"/>
              <a:t>enviou</a:t>
            </a:r>
            <a:endParaRPr lang="en-US" dirty="0"/>
          </a:p>
          <a:p>
            <a:r>
              <a:rPr lang="en-US" dirty="0"/>
              <a:t>          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desliga</a:t>
            </a:r>
            <a:r>
              <a:rPr lang="en-US" dirty="0"/>
              <a:t> 01 </a:t>
            </a:r>
            <a:r>
              <a:rPr lang="en-US" dirty="0" err="1"/>
              <a:t>executado</a:t>
            </a:r>
            <a:r>
              <a:rPr lang="en-US" dirty="0"/>
              <a:t>");</a:t>
            </a:r>
          </a:p>
          <a:p>
            <a:r>
              <a:rPr lang="en-US" dirty="0"/>
              <a:t>            } </a:t>
            </a:r>
          </a:p>
          <a:p>
            <a:r>
              <a:rPr lang="en-US" dirty="0"/>
              <a:t>            if(</a:t>
            </a:r>
            <a:r>
              <a:rPr lang="en-US" dirty="0" err="1"/>
              <a:t>Palavra</a:t>
            </a:r>
            <a:r>
              <a:rPr lang="en-US" dirty="0"/>
              <a:t> == "</a:t>
            </a:r>
            <a:r>
              <a:rPr lang="en-US" dirty="0" err="1"/>
              <a:t>liga</a:t>
            </a:r>
            <a:r>
              <a:rPr lang="en-US" dirty="0"/>
              <a:t> 02"){                         // teste do </a:t>
            </a:r>
            <a:r>
              <a:rPr lang="en-US" dirty="0" err="1"/>
              <a:t>liga</a:t>
            </a:r>
            <a:r>
              <a:rPr lang="en-US" dirty="0"/>
              <a:t> 02</a:t>
            </a:r>
          </a:p>
          <a:p>
            <a:r>
              <a:rPr lang="en-US" dirty="0"/>
              <a:t>              </a:t>
            </a:r>
            <a:r>
              <a:rPr lang="en-US" dirty="0" err="1"/>
              <a:t>digitalWrite</a:t>
            </a:r>
            <a:r>
              <a:rPr lang="en-US" dirty="0"/>
              <a:t>(S02, HIGH);</a:t>
            </a:r>
          </a:p>
          <a:p>
            <a:r>
              <a:rPr lang="en-US" dirty="0"/>
              <a:t>              delay(5000);                                    // </a:t>
            </a:r>
            <a:r>
              <a:rPr lang="en-US" dirty="0" err="1"/>
              <a:t>espera</a:t>
            </a:r>
            <a:r>
              <a:rPr lang="en-US" dirty="0"/>
              <a:t> o </a:t>
            </a:r>
            <a:r>
              <a:rPr lang="en-US" dirty="0" err="1"/>
              <a:t>celular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que </a:t>
            </a:r>
            <a:r>
              <a:rPr lang="en-US" dirty="0" err="1"/>
              <a:t>enviou</a:t>
            </a:r>
            <a:endParaRPr lang="en-US" dirty="0"/>
          </a:p>
          <a:p>
            <a:r>
              <a:rPr lang="en-US" dirty="0"/>
              <a:t>          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liga</a:t>
            </a:r>
            <a:r>
              <a:rPr lang="en-US" dirty="0"/>
              <a:t> 02 </a:t>
            </a:r>
            <a:r>
              <a:rPr lang="en-US" dirty="0" err="1"/>
              <a:t>executado</a:t>
            </a:r>
            <a:r>
              <a:rPr lang="en-US" dirty="0"/>
              <a:t>");</a:t>
            </a:r>
          </a:p>
          <a:p>
            <a:r>
              <a:rPr lang="en-US" dirty="0"/>
              <a:t>            }   </a:t>
            </a:r>
          </a:p>
          <a:p>
            <a:r>
              <a:rPr lang="en-US" dirty="0"/>
              <a:t>            if(</a:t>
            </a:r>
            <a:r>
              <a:rPr lang="en-US" dirty="0" err="1"/>
              <a:t>Palavra</a:t>
            </a:r>
            <a:r>
              <a:rPr lang="en-US" dirty="0"/>
              <a:t> == "</a:t>
            </a:r>
            <a:r>
              <a:rPr lang="en-US" dirty="0" err="1"/>
              <a:t>desliga</a:t>
            </a:r>
            <a:r>
              <a:rPr lang="en-US" dirty="0"/>
              <a:t> 02"){                         // teste do </a:t>
            </a:r>
            <a:r>
              <a:rPr lang="en-US" dirty="0" err="1"/>
              <a:t>desliga</a:t>
            </a:r>
            <a:r>
              <a:rPr lang="en-US" dirty="0"/>
              <a:t> 02</a:t>
            </a:r>
          </a:p>
          <a:p>
            <a:r>
              <a:rPr lang="en-US" dirty="0"/>
              <a:t>              </a:t>
            </a:r>
            <a:r>
              <a:rPr lang="en-US" dirty="0" err="1"/>
              <a:t>digitalWrite</a:t>
            </a:r>
            <a:r>
              <a:rPr lang="en-US" dirty="0"/>
              <a:t>(S02, LOW);</a:t>
            </a:r>
          </a:p>
          <a:p>
            <a:r>
              <a:rPr lang="en-US" dirty="0"/>
              <a:t>              delay(5000);                                    // </a:t>
            </a:r>
            <a:r>
              <a:rPr lang="en-US" dirty="0" err="1"/>
              <a:t>espera</a:t>
            </a:r>
            <a:r>
              <a:rPr lang="en-US" dirty="0"/>
              <a:t> o </a:t>
            </a:r>
            <a:r>
              <a:rPr lang="en-US" dirty="0" err="1"/>
              <a:t>celular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que </a:t>
            </a:r>
            <a:r>
              <a:rPr lang="en-US" dirty="0" err="1"/>
              <a:t>enviou</a:t>
            </a:r>
            <a:endParaRPr lang="en-US" dirty="0"/>
          </a:p>
          <a:p>
            <a:r>
              <a:rPr lang="en-US" dirty="0"/>
              <a:t>              </a:t>
            </a:r>
            <a:r>
              <a:rPr lang="en-US" dirty="0" err="1"/>
              <a:t>Serial.println</a:t>
            </a:r>
            <a:r>
              <a:rPr lang="en-US" dirty="0"/>
              <a:t>("</a:t>
            </a:r>
            <a:r>
              <a:rPr lang="en-US" dirty="0" err="1"/>
              <a:t>desliga</a:t>
            </a:r>
            <a:r>
              <a:rPr lang="en-US" dirty="0"/>
              <a:t> 02 </a:t>
            </a:r>
            <a:r>
              <a:rPr lang="en-US" dirty="0" err="1"/>
              <a:t>executado</a:t>
            </a:r>
            <a:r>
              <a:rPr lang="en-US" dirty="0"/>
              <a:t>");</a:t>
            </a:r>
          </a:p>
          <a:p>
            <a:r>
              <a:rPr lang="en-US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4188821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8C04-8271-4DEC-A3D9-5433D22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95" y="0"/>
            <a:ext cx="8644273" cy="1209174"/>
          </a:xfrm>
        </p:spPr>
        <p:txBody>
          <a:bodyPr>
            <a:normAutofit/>
          </a:bodyPr>
          <a:lstStyle/>
          <a:p>
            <a:r>
              <a:rPr lang="pt-BR" dirty="0"/>
              <a:t>APP para IOT </a:t>
            </a:r>
            <a:r>
              <a:rPr lang="pt-BR" dirty="0">
                <a:sym typeface="Wingdings" panose="05000000000000000000" pitchFamily="2" charset="2"/>
              </a:rPr>
              <a:t> APP 01</a:t>
            </a:r>
            <a:r>
              <a:rPr lang="pt-BR" dirty="0"/>
              <a:t>: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0C8E3-30FC-439E-B082-8557EF75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3844" y="1395663"/>
            <a:ext cx="11316788" cy="486075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Mais saídas podem ser facilmente adicionadas com novas mensagens avaliadas.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Informações de sensores podem ser enviadas e tratadas no App Android para gerar informações de tela como temperatura e umidade. Neste caso o retorno da mensagem via </a:t>
            </a:r>
            <a:r>
              <a:rPr lang="pt-BR" sz="2400" dirty="0" err="1">
                <a:solidFill>
                  <a:schemeClr val="bg1"/>
                </a:solidFill>
              </a:rPr>
              <a:t>Clock</a:t>
            </a:r>
            <a:r>
              <a:rPr lang="pt-BR" sz="2400" dirty="0">
                <a:solidFill>
                  <a:schemeClr val="bg1"/>
                </a:solidFill>
              </a:rPr>
              <a:t> pode ser testado e apresentado em local adequado.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As grandes temporizações e mensagens foram propostas para prover o tempo de verbalização e para que a fala do usuário seja reconhecida. A acentuação frequentemente não é enviada de forma correta pela serial. É prudente não utilizar palavras acentuadas ou com “ç”. O melhor é testar os caracteres trocados nos monitores e avaliar a palavra e seus caracteres enviados.</a:t>
            </a:r>
          </a:p>
        </p:txBody>
      </p:sp>
    </p:spTree>
    <p:extLst>
      <p:ext uri="{BB962C8B-B14F-4D97-AF65-F5344CB8AC3E}">
        <p14:creationId xmlns:p14="http://schemas.microsoft.com/office/powerpoint/2010/main" val="978378854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1100</TotalTime>
  <Words>1317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Fatia</vt:lpstr>
      <vt:lpstr>Sistemas embarcados aplicados I – App Android e IOS</vt:lpstr>
      <vt:lpstr>Softwares e sites:</vt:lpstr>
      <vt:lpstr>Softwares e sites:</vt:lpstr>
      <vt:lpstr>Softwares e sites:</vt:lpstr>
      <vt:lpstr>Softwares e sites: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APP INVENTOR MIT  APP 01:</vt:lpstr>
      <vt:lpstr>APP para IOT  ARDUINO:</vt:lpstr>
      <vt:lpstr>APP para IOT  ARDUINO:</vt:lpstr>
      <vt:lpstr>APP para IOT  ARDUINO  Código:</vt:lpstr>
      <vt:lpstr>APP para IOT  ARDUINO  Código:</vt:lpstr>
      <vt:lpstr>APP para IOT  ARDUINO  Código:</vt:lpstr>
      <vt:lpstr>APP para IOT  APP 01: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embarcados aplicados I</dc:title>
  <dc:creator>dalton vidor</dc:creator>
  <cp:lastModifiedBy>dalton vidor</cp:lastModifiedBy>
  <cp:revision>80</cp:revision>
  <dcterms:created xsi:type="dcterms:W3CDTF">2020-08-03T18:55:45Z</dcterms:created>
  <dcterms:modified xsi:type="dcterms:W3CDTF">2020-08-31T05:59:58Z</dcterms:modified>
</cp:coreProperties>
</file>